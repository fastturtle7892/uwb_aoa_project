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772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PORTFOLIO FOR SK TELECOM · 무선 NETWORK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17043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Portfolio by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75488" y="1481328"/>
            <a:ext cx="8138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장윤석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02920" y="288036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무선 신호와 장비의 동작을 분석하고, 실험으로 성능 개선을 검증하는 엔지니어입니다.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02920" y="3611880"/>
            <a:ext cx="2352934" cy="310896"/>
          </a:xfrm>
          <a:prstGeom prst="roundRect">
            <a:avLst>
              <a:gd name="adj" fmla="val 14706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611880"/>
            <a:ext cx="23529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UWB SIGNAL PROCESSING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965582" y="3611880"/>
            <a:ext cx="1953524" cy="310896"/>
          </a:xfrm>
          <a:prstGeom prst="roundRect">
            <a:avLst>
              <a:gd name="adj" fmla="val 14706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65582" y="3611880"/>
            <a:ext cx="19535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WIRELESS PROTOCOL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8834" y="3611880"/>
            <a:ext cx="1554114" cy="310896"/>
          </a:xfrm>
          <a:prstGeom prst="roundRect">
            <a:avLst>
              <a:gd name="adj" fmla="val 14706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8834" y="3611880"/>
            <a:ext cx="15541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RF / EMBEDDED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692676" y="3611880"/>
            <a:ext cx="655442" cy="310896"/>
          </a:xfrm>
          <a:prstGeom prst="roundRect">
            <a:avLst>
              <a:gd name="adj" fmla="val 14706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92676" y="3611880"/>
            <a:ext cx="6554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RTLS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4041648"/>
            <a:ext cx="2652492" cy="310896"/>
          </a:xfrm>
          <a:prstGeom prst="roundRect">
            <a:avLst>
              <a:gd name="adj" fmla="val 14706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041648"/>
            <a:ext cx="26524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PERFORMANCE OPTIMIZATION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6199632"/>
            <a:ext cx="8138160" cy="0"/>
          </a:xfrm>
          <a:prstGeom prst="line">
            <a:avLst/>
          </a:prstGeom>
          <a:noFill/>
          <a:ln w="12700">
            <a:solidFill>
              <a:srgbClr val="2E2E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327648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ABOUT ↗      PROJECTS ↗      SKILLS ↗      CONTACT ↗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85816" y="6327648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jangys7892@gmail.com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94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ABOUT ME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362395" y="347472"/>
            <a:ext cx="2278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JANG YUNSEOK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무선 신호와 장비의 동작을 분석하고,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실험으로 성능 개선을 검증합니다.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8138160" cy="0"/>
          </a:xfrm>
          <a:prstGeom prst="line">
            <a:avLst/>
          </a:prstGeom>
          <a:noFill/>
          <a:ln w="12700">
            <a:solidFill>
              <a:srgbClr val="2E2E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27632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전자공학을 전공하며 IEEE 802.15.4z UWB의 신호·프로토콜·장비 성능을 분석해 논문 2편을 게재했고, 실제 하드웨어 실험으로 결과를 검증해 왔습니다. 이후 SSAFY 임베디드 트랙에서 시스템 구현과 AI 활용 역량으로 구현 수단을 넓혔습니다.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487168"/>
            <a:ext cx="1911096" cy="987552"/>
          </a:xfrm>
          <a:prstGeom prst="roundRect">
            <a:avLst>
              <a:gd name="adj" fmla="val 5556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645176"/>
            <a:ext cx="19110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4.33 / 4.5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3138952"/>
            <a:ext cx="1728216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전공 평점 (전체 4.27)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78608" y="2487168"/>
            <a:ext cx="1911096" cy="987552"/>
          </a:xfrm>
          <a:prstGeom prst="roundRect">
            <a:avLst>
              <a:gd name="adj" fmla="val 5556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78608" y="2645176"/>
            <a:ext cx="19110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편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670048" y="3138952"/>
            <a:ext cx="1728216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한국전자파학회논문지 게재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54296" y="2487168"/>
            <a:ext cx="1911096" cy="987552"/>
          </a:xfrm>
          <a:prstGeom prst="roundRect">
            <a:avLst>
              <a:gd name="adj" fmla="val 5556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54296" y="2645176"/>
            <a:ext cx="19110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회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745736" y="3138952"/>
            <a:ext cx="1728216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전자파학회 학술대회 동상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29984" y="2487168"/>
            <a:ext cx="1911096" cy="987552"/>
          </a:xfrm>
          <a:prstGeom prst="roundRect">
            <a:avLst>
              <a:gd name="adj" fmla="val 5556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9984" y="2645176"/>
            <a:ext cx="19110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1cm 이내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821424" y="3138952"/>
            <a:ext cx="1728216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UWB 거리측정 정밀도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373075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CORE COMPETENCY   무선 Network 직무 연관 역량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4059936"/>
            <a:ext cx="2590800" cy="1170432"/>
          </a:xfrm>
          <a:prstGeom prst="roundRect">
            <a:avLst>
              <a:gd name="adj" fmla="val 4688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67512" y="4206240"/>
            <a:ext cx="2261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무선 신호·프로토콜 분석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7512" y="4572000"/>
            <a:ext cx="2261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DS-TWR · AoA · CIR I/Q 위상 등 물리계층 파라미터를 해석하고 성능 저하 원인을 진단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3276600" y="4059936"/>
            <a:ext cx="2590800" cy="1170432"/>
          </a:xfrm>
          <a:prstGeom prst="roundRect">
            <a:avLst>
              <a:gd name="adj" fmla="val 4688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441192" y="4206240"/>
            <a:ext cx="2261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임베디드 하드웨어 구현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41192" y="4572000"/>
            <a:ext cx="2261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Qorvo DW3000, Nordic nRF52840 등 실제 UWB IC·MCU를 제어하는 펌웨어 직접 구현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6050280" y="4059936"/>
            <a:ext cx="2590800" cy="1170432"/>
          </a:xfrm>
          <a:prstGeom prst="roundRect">
            <a:avLst>
              <a:gd name="adj" fmla="val 4688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14872" y="4206240"/>
            <a:ext cx="2261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 기반 교차 검증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4872" y="4572000"/>
            <a:ext cx="2261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MATLAB 시뮬레이션과 하드웨어 실측을 비교해 이론과 결과를 함께 검증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502920" y="51755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INTEREST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5449824"/>
            <a:ext cx="1016813" cy="292608"/>
          </a:xfrm>
          <a:prstGeom prst="roundRect">
            <a:avLst>
              <a:gd name="adj" fmla="val 15625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5449824"/>
            <a:ext cx="101681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UWB 실내측위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629461" y="5449824"/>
            <a:ext cx="921715" cy="292608"/>
          </a:xfrm>
          <a:prstGeom prst="roundRect">
            <a:avLst>
              <a:gd name="adj" fmla="val 15625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29461" y="5449824"/>
            <a:ext cx="9217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RF 신호처리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660904" y="5449824"/>
            <a:ext cx="921715" cy="292608"/>
          </a:xfrm>
          <a:prstGeom prst="roundRect">
            <a:avLst>
              <a:gd name="adj" fmla="val 15625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60904" y="5449824"/>
            <a:ext cx="9217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무선 프로토콜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92347" y="5449824"/>
            <a:ext cx="1016813" cy="292608"/>
          </a:xfrm>
          <a:prstGeom prst="roundRect">
            <a:avLst>
              <a:gd name="adj" fmla="val 15625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92347" y="5449824"/>
            <a:ext cx="101681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임베디드 시스템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18888" y="5449824"/>
            <a:ext cx="1111910" cy="292608"/>
          </a:xfrm>
          <a:prstGeom prst="roundRect">
            <a:avLst>
              <a:gd name="adj" fmla="val 15625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18888" y="5449824"/>
            <a:ext cx="11119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자율주행 임베디드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040526" y="5449824"/>
            <a:ext cx="1016813" cy="292608"/>
          </a:xfrm>
          <a:prstGeom prst="roundRect">
            <a:avLst>
              <a:gd name="adj" fmla="val 15625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40526" y="5449824"/>
            <a:ext cx="101681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/ 자동화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2920" y="6473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600200" y="6473952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SSAFY 14기 임베디드 트랙 · 국민대학교 전자공학부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94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ABOUT ME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362395" y="347472"/>
            <a:ext cx="2278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JANG YUNSEOK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Education &amp; Qualifications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전자공학 학위 위에 어학·SW 역량과 자격을 더했습니다.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8138160" cy="0"/>
          </a:xfrm>
          <a:prstGeom prst="line">
            <a:avLst/>
          </a:prstGeom>
          <a:noFill/>
          <a:ln w="12700">
            <a:solidFill>
              <a:srgbClr val="2E2E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64208"/>
            <a:ext cx="4557370" cy="2788920"/>
          </a:xfrm>
          <a:prstGeom prst="roundRect">
            <a:avLst>
              <a:gd name="adj" fmla="val 1967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920240"/>
            <a:ext cx="40087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EDUCATION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231136"/>
            <a:ext cx="40087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국민대학교 전자공학부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2596896"/>
            <a:ext cx="4008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전자시스템공학전공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889504"/>
            <a:ext cx="40087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2019.03 — 2025.08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3328416"/>
            <a:ext cx="4008730" cy="0"/>
          </a:xfrm>
          <a:prstGeom prst="line">
            <a:avLst/>
          </a:prstGeom>
          <a:noFill/>
          <a:ln w="12700">
            <a:solidFill>
              <a:srgbClr val="2E2E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493008"/>
            <a:ext cx="40087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4.33 / 4.5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77240" y="3986784"/>
            <a:ext cx="4008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전공 평점  |  전체 평점 4.27 / 4.5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279746" y="1664208"/>
            <a:ext cx="3361334" cy="1284732"/>
          </a:xfrm>
          <a:prstGeom prst="roundRect">
            <a:avLst>
              <a:gd name="adj" fmla="val 4270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17490" y="1865376"/>
            <a:ext cx="28858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LANGUAGE &amp; SW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517490" y="2176272"/>
            <a:ext cx="288584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OPIc  Intermediate High (IH)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삼성 SW 역량테스트  B형 (Professional)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279746" y="3168396"/>
            <a:ext cx="3361334" cy="1284732"/>
          </a:xfrm>
          <a:prstGeom prst="roundRect">
            <a:avLst>
              <a:gd name="adj" fmla="val 4270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17490" y="3369564"/>
            <a:ext cx="28858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CERTIFICATE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517490" y="3680460"/>
            <a:ext cx="288584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리눅스 마스터 2급   2026.01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94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ABOUT ME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362395" y="347472"/>
            <a:ext cx="2278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JANG YUNSEOK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Publications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IEEE 802.15.4z UWB 정밀 측위 연구를 한국전자파학회논문지에 게재했습니다.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8138160" cy="0"/>
          </a:xfrm>
          <a:prstGeom prst="line">
            <a:avLst/>
          </a:prstGeom>
          <a:noFill/>
          <a:ln w="12700">
            <a:solidFill>
              <a:srgbClr val="2E2E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64208"/>
            <a:ext cx="8138160" cy="1572768"/>
          </a:xfrm>
          <a:prstGeom prst="roundRect">
            <a:avLst>
              <a:gd name="adj" fmla="val 3488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792224"/>
            <a:ext cx="54864" cy="1316736"/>
          </a:xfrm>
          <a:prstGeom prst="rect">
            <a:avLst/>
          </a:prstGeom>
          <a:solidFill>
            <a:srgbClr val="EA5EC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6537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논문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12140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“IEEE 802.15.4z UWB의 거리측정 정확도와 측정시간 최적화”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" y="259689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UWB IC의 하드웨어 처리시간과 PHY 파라미터를 기반으로 거리측정 시간 파라미터를 최적화한 연구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126480" y="188366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한국전자파학회논문지 36(3), 2025 · pp. 274–282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26480" y="259689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 SS-TWR / DS-TWR 최적화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438144"/>
            <a:ext cx="8138160" cy="1572768"/>
          </a:xfrm>
          <a:prstGeom prst="roundRect">
            <a:avLst>
              <a:gd name="adj" fmla="val 3488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566160"/>
            <a:ext cx="54864" cy="1316736"/>
          </a:xfrm>
          <a:prstGeom prst="rect">
            <a:avLst/>
          </a:prstGeom>
          <a:solidFill>
            <a:srgbClr val="EA5EC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639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논문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" y="389534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“단일 채널을 활용한 1cm 이하의 고정밀 UWB 구현 및 응용”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77240" y="437083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I/Q 데이터 위상 복원을 통해 DS-TWR 거리 오차를 1cm 이하로 개선한 고정밀 측위 연구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26480" y="3657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한국전자파학회논문지 36(8), 2025 · pp. 749–756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26480" y="43708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 Phase Correction · 1cm↓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525780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ORCID  0009-0008-2251-6135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94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SKILLS / ACTIVITIES &amp; AWARDS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362395" y="347472"/>
            <a:ext cx="2278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JANG YUNSEOK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Tech Stack &amp; Awards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역할에 맞는 도구를 골라, 결과로 검증해 왔습니다.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8138160" cy="0"/>
          </a:xfrm>
          <a:prstGeom prst="line">
            <a:avLst/>
          </a:prstGeom>
          <a:noFill/>
          <a:ln w="12700">
            <a:solidFill>
              <a:srgbClr val="2E2E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64208"/>
            <a:ext cx="2590800" cy="2057400"/>
          </a:xfrm>
          <a:prstGeom prst="roundRect">
            <a:avLst>
              <a:gd name="adj" fmla="val 2667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847088"/>
            <a:ext cx="222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8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EMBEDDED / HARDWARE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2139696"/>
            <a:ext cx="2225040" cy="0"/>
          </a:xfrm>
          <a:prstGeom prst="line">
            <a:avLst/>
          </a:prstGeom>
          <a:noFill/>
          <a:ln w="12700">
            <a:solidFill>
              <a:srgbClr val="2E2E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267712"/>
            <a:ext cx="457200" cy="256032"/>
          </a:xfrm>
          <a:prstGeom prst="roundRect">
            <a:avLst>
              <a:gd name="adj" fmla="val 1785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2677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216152" y="2267712"/>
            <a:ext cx="512796" cy="256032"/>
          </a:xfrm>
          <a:prstGeom prst="roundRect">
            <a:avLst>
              <a:gd name="adj" fmla="val 1785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16152" y="2267712"/>
            <a:ext cx="5127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C++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02100" y="2267712"/>
            <a:ext cx="683971" cy="256032"/>
          </a:xfrm>
          <a:prstGeom prst="roundRect">
            <a:avLst>
              <a:gd name="adj" fmla="val 1785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02100" y="2267712"/>
            <a:ext cx="6839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STM32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5800" y="2615184"/>
            <a:ext cx="940735" cy="256032"/>
          </a:xfrm>
          <a:prstGeom prst="roundRect">
            <a:avLst>
              <a:gd name="adj" fmla="val 1785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615184"/>
            <a:ext cx="9407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FreeRTOS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99687" y="2615184"/>
            <a:ext cx="1197498" cy="256032"/>
          </a:xfrm>
          <a:prstGeom prst="roundRect">
            <a:avLst>
              <a:gd name="adj" fmla="val 1785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99687" y="2615184"/>
            <a:ext cx="11974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Jetson Orin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" y="2962656"/>
            <a:ext cx="940735" cy="256032"/>
          </a:xfrm>
          <a:prstGeom prst="roundRect">
            <a:avLst>
              <a:gd name="adj" fmla="val 1785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962656"/>
            <a:ext cx="9407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nRF52840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699687" y="2962656"/>
            <a:ext cx="769559" cy="256032"/>
          </a:xfrm>
          <a:prstGeom prst="roundRect">
            <a:avLst>
              <a:gd name="adj" fmla="val 1785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99687" y="2962656"/>
            <a:ext cx="769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DW3000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5800" y="3310128"/>
            <a:ext cx="1026323" cy="256032"/>
          </a:xfrm>
          <a:prstGeom prst="roundRect">
            <a:avLst>
              <a:gd name="adj" fmla="val 1785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310128"/>
            <a:ext cx="10263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802.15.4z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76600" y="1664208"/>
            <a:ext cx="2590800" cy="2057400"/>
          </a:xfrm>
          <a:prstGeom prst="roundRect">
            <a:avLst>
              <a:gd name="adj" fmla="val 2667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59480" y="1847088"/>
            <a:ext cx="222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8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SOFTWARE / FRAMEWORK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59480" y="2139696"/>
            <a:ext cx="2225040" cy="0"/>
          </a:xfrm>
          <a:prstGeom prst="line">
            <a:avLst/>
          </a:prstGeom>
          <a:noFill/>
          <a:ln w="12700">
            <a:solidFill>
              <a:srgbClr val="2E2E3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59480" y="2267712"/>
            <a:ext cx="769559" cy="256032"/>
          </a:xfrm>
          <a:prstGeom prst="roundRect">
            <a:avLst>
              <a:gd name="adj" fmla="val 1785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59480" y="2267712"/>
            <a:ext cx="769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302191" y="2267712"/>
            <a:ext cx="683971" cy="256032"/>
          </a:xfrm>
          <a:prstGeom prst="roundRect">
            <a:avLst>
              <a:gd name="adj" fmla="val 1785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02191" y="2267712"/>
            <a:ext cx="6839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ROS 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459480" y="2615184"/>
            <a:ext cx="855147" cy="256032"/>
          </a:xfrm>
          <a:prstGeom prst="roundRect">
            <a:avLst>
              <a:gd name="adj" fmla="val 1785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59480" y="2615184"/>
            <a:ext cx="85514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FastAPI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387779" y="2615184"/>
            <a:ext cx="1026323" cy="256032"/>
          </a:xfrm>
          <a:prstGeom prst="roundRect">
            <a:avLst>
              <a:gd name="adj" fmla="val 1785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7779" y="2615184"/>
            <a:ext cx="10263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LangChain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459480" y="2962656"/>
            <a:ext cx="769559" cy="256032"/>
          </a:xfrm>
          <a:prstGeom prst="roundRect">
            <a:avLst>
              <a:gd name="adj" fmla="val 1785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59480" y="2962656"/>
            <a:ext cx="769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MATLAB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302191" y="2962656"/>
            <a:ext cx="769559" cy="256032"/>
          </a:xfrm>
          <a:prstGeom prst="roundRect">
            <a:avLst>
              <a:gd name="adj" fmla="val 1785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02191" y="2962656"/>
            <a:ext cx="769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OpenCV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459480" y="3310128"/>
            <a:ext cx="769559" cy="256032"/>
          </a:xfrm>
          <a:prstGeom prst="roundRect">
            <a:avLst>
              <a:gd name="adj" fmla="val 1785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59480" y="3310128"/>
            <a:ext cx="769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Docker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050280" y="1664208"/>
            <a:ext cx="2590800" cy="2057400"/>
          </a:xfrm>
          <a:prstGeom prst="roundRect">
            <a:avLst>
              <a:gd name="adj" fmla="val 2667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233160" y="1847088"/>
            <a:ext cx="222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8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ALGORITHM / PROTOCOL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233160" y="2139696"/>
            <a:ext cx="2225040" cy="0"/>
          </a:xfrm>
          <a:prstGeom prst="line">
            <a:avLst/>
          </a:prstGeom>
          <a:noFill/>
          <a:ln w="12700">
            <a:solidFill>
              <a:srgbClr val="2E2E3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33160" y="2267712"/>
            <a:ext cx="769559" cy="256032"/>
          </a:xfrm>
          <a:prstGeom prst="roundRect">
            <a:avLst>
              <a:gd name="adj" fmla="val 1785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33160" y="2267712"/>
            <a:ext cx="769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DS-TWR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075871" y="2267712"/>
            <a:ext cx="769559" cy="256032"/>
          </a:xfrm>
          <a:prstGeom prst="roundRect">
            <a:avLst>
              <a:gd name="adj" fmla="val 1785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75871" y="2267712"/>
            <a:ext cx="769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SS-TWR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918582" y="2267712"/>
            <a:ext cx="512796" cy="256032"/>
          </a:xfrm>
          <a:prstGeom prst="roundRect">
            <a:avLst>
              <a:gd name="adj" fmla="val 1785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918582" y="2267712"/>
            <a:ext cx="5127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AoA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233160" y="2615184"/>
            <a:ext cx="1368674" cy="256032"/>
          </a:xfrm>
          <a:prstGeom prst="roundRect">
            <a:avLst>
              <a:gd name="adj" fmla="val 1785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33160" y="2615184"/>
            <a:ext cx="13686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Kalman Filter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233160" y="2962656"/>
            <a:ext cx="1711025" cy="256032"/>
          </a:xfrm>
          <a:prstGeom prst="roundRect">
            <a:avLst>
              <a:gd name="adj" fmla="val 1785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33160" y="2962656"/>
            <a:ext cx="17110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Signal Processing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233160" y="3310128"/>
            <a:ext cx="512796" cy="256032"/>
          </a:xfrm>
          <a:prstGeom prst="roundRect">
            <a:avLst>
              <a:gd name="adj" fmla="val 1785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33160" y="3310128"/>
            <a:ext cx="5127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FSM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819108" y="3310128"/>
            <a:ext cx="1111910" cy="256032"/>
          </a:xfrm>
          <a:prstGeom prst="roundRect">
            <a:avLst>
              <a:gd name="adj" fmla="val 1785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19108" y="3310128"/>
            <a:ext cx="11119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Hybrid RAG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02920" y="39959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ACTIVITIES &amp; AWARDS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02920" y="4288536"/>
            <a:ext cx="8138160" cy="384048"/>
          </a:xfrm>
          <a:prstGeom prst="roundRect">
            <a:avLst>
              <a:gd name="adj" fmla="val 14286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5800" y="428853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1508760" y="4329684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AoA 기반 단일 앵커 UWB RTLS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1508760" y="4498848"/>
            <a:ext cx="5394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전자파학회 제4회 학술대회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7086600" y="428853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동상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502920" y="4745736"/>
            <a:ext cx="8138160" cy="384048"/>
          </a:xfrm>
          <a:prstGeom prst="roundRect">
            <a:avLst>
              <a:gd name="adj" fmla="val 14286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85800" y="474573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1508760" y="4786884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고정밀 UWB 위상오차 보정 (Phase Correction)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1508760" y="4956048"/>
            <a:ext cx="5394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전자파학회 제5회 학술대회 · 논문 게재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7086600" y="474573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동상 · 논문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02920" y="5202936"/>
            <a:ext cx="8138160" cy="384048"/>
          </a:xfrm>
          <a:prstGeom prst="roundRect">
            <a:avLst>
              <a:gd name="adj" fmla="val 14286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85800" y="520293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1508760" y="5244084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UWB 거리측정 성능 최적화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508760" y="5413248"/>
            <a:ext cx="5394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한국전자파학회논문지 게재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7086600" y="520293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논문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502920" y="5660136"/>
            <a:ext cx="8138160" cy="384048"/>
          </a:xfrm>
          <a:prstGeom prst="roundRect">
            <a:avLst>
              <a:gd name="adj" fmla="val 14286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85800" y="566013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1508760" y="5701284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NETS — 장비 불량 데이터 자동 재분류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1508760" y="5870448"/>
            <a:ext cx="5394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삼성전자 네트워크사업부 연계 프로젝트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7086600" y="566013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3위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502920" y="6473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UWB 정밀 측위 연구 3건을 중심으로, 임베디드·통신·AI 구현 역량을 더했습니다.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2590800" cy="1965960"/>
          </a:xfrm>
          <a:prstGeom prst="roundRect">
            <a:avLst>
              <a:gd name="adj" fmla="val 2791"/>
            </a:avLst>
          </a:prstGeom>
          <a:solidFill>
            <a:srgbClr val="18181C"/>
          </a:solidFill>
          <a:ln w="12700">
            <a:solidFill>
              <a:srgbClr val="5A3A4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67512" y="1975104"/>
            <a:ext cx="2261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UWB RESEARCH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67512" y="2157984"/>
            <a:ext cx="2261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67512" y="2157984"/>
            <a:ext cx="2261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67512" y="2560320"/>
            <a:ext cx="2261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AoA 기반 단일 앵커 UWB RTLS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67512" y="2999232"/>
            <a:ext cx="2261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DS-TWR 거리 + AoA 각도 융합, 단일 앵커 2D 실시간 측위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67512" y="3465576"/>
            <a:ext cx="683971" cy="201168"/>
          </a:xfrm>
          <a:prstGeom prst="roundRect">
            <a:avLst>
              <a:gd name="adj" fmla="val 2272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3465576"/>
            <a:ext cx="6839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DS-TWR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406347" y="3465576"/>
            <a:ext cx="470002" cy="201168"/>
          </a:xfrm>
          <a:prstGeom prst="roundRect">
            <a:avLst>
              <a:gd name="adj" fmla="val 2272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06347" y="3465576"/>
            <a:ext cx="4700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AoA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67512" y="3721608"/>
            <a:ext cx="1183234" cy="201168"/>
          </a:xfrm>
          <a:prstGeom prst="roundRect">
            <a:avLst>
              <a:gd name="adj" fmla="val 2272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3721608"/>
            <a:ext cx="11832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Kalman Filter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276600" y="1828800"/>
            <a:ext cx="2590800" cy="1965960"/>
          </a:xfrm>
          <a:prstGeom prst="roundRect">
            <a:avLst>
              <a:gd name="adj" fmla="val 2791"/>
            </a:avLst>
          </a:prstGeom>
          <a:solidFill>
            <a:srgbClr val="18181C"/>
          </a:solidFill>
          <a:ln w="12700">
            <a:solidFill>
              <a:srgbClr val="5A3A4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41192" y="1975104"/>
            <a:ext cx="2261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UWB RESEARCH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41192" y="2157984"/>
            <a:ext cx="2261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441192" y="2157984"/>
            <a:ext cx="2261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41192" y="2560320"/>
            <a:ext cx="2261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고정밀 UWB (위상오차 제거)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441192" y="2999232"/>
            <a:ext cx="2261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채널 CIR I/Q 위상 복원으로 거리측정 정밀도 1cm 이내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41192" y="3465576"/>
            <a:ext cx="1397203" cy="201168"/>
          </a:xfrm>
          <a:prstGeom prst="roundRect">
            <a:avLst>
              <a:gd name="adj" fmla="val 2272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41192" y="3465576"/>
            <a:ext cx="1397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Correction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893259" y="3465576"/>
            <a:ext cx="683971" cy="201168"/>
          </a:xfrm>
          <a:prstGeom prst="roundRect">
            <a:avLst>
              <a:gd name="adj" fmla="val 2272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3259" y="3465576"/>
            <a:ext cx="6839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DW3000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441192" y="3721608"/>
            <a:ext cx="541325" cy="201168"/>
          </a:xfrm>
          <a:prstGeom prst="roundRect">
            <a:avLst>
              <a:gd name="adj" fmla="val 2272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41192" y="3721608"/>
            <a:ext cx="5413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제1저자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050280" y="1828800"/>
            <a:ext cx="2590800" cy="1965960"/>
          </a:xfrm>
          <a:prstGeom prst="roundRect">
            <a:avLst>
              <a:gd name="adj" fmla="val 2791"/>
            </a:avLst>
          </a:prstGeom>
          <a:solidFill>
            <a:srgbClr val="18181C"/>
          </a:solidFill>
          <a:ln w="12700">
            <a:solidFill>
              <a:srgbClr val="5A3A4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214872" y="1975104"/>
            <a:ext cx="2261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UWB RESEARCH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214872" y="2157984"/>
            <a:ext cx="2261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214872" y="2157984"/>
            <a:ext cx="2261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14872" y="2560320"/>
            <a:ext cx="2261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UWB 거리측정 성능 최적화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214872" y="2999232"/>
            <a:ext cx="2261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PHY 패킷·IC 처리시간 모델링으로 SS/DS-TWR 정확도·속도 최적화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14872" y="3465576"/>
            <a:ext cx="683971" cy="201168"/>
          </a:xfrm>
          <a:prstGeom prst="roundRect">
            <a:avLst>
              <a:gd name="adj" fmla="val 2272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4872" y="3465576"/>
            <a:ext cx="6839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SS-TWR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953707" y="3465576"/>
            <a:ext cx="683971" cy="201168"/>
          </a:xfrm>
          <a:prstGeom prst="roundRect">
            <a:avLst>
              <a:gd name="adj" fmla="val 2272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53707" y="3465576"/>
            <a:ext cx="6839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DS-TWR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7692542" y="3465576"/>
            <a:ext cx="683971" cy="201168"/>
          </a:xfrm>
          <a:prstGeom prst="roundRect">
            <a:avLst>
              <a:gd name="adj" fmla="val 2272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92542" y="3465576"/>
            <a:ext cx="6839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MATLAB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02920" y="3995928"/>
            <a:ext cx="2590800" cy="1417320"/>
          </a:xfrm>
          <a:prstGeom prst="roundRect">
            <a:avLst>
              <a:gd name="adj" fmla="val 3871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67512" y="4123944"/>
            <a:ext cx="2261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 2025.11–12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67512" y="4325112"/>
            <a:ext cx="2261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RobotPal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67512" y="4617720"/>
            <a:ext cx="2261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C++ 시뮬레이터 기반 가상 로봇 SDK — 통신 처리 병목 분석·개선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667512" y="5138928"/>
            <a:ext cx="612648" cy="201168"/>
          </a:xfrm>
          <a:prstGeom prst="roundRect">
            <a:avLst>
              <a:gd name="adj" fmla="val 2272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7512" y="5138928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C++17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335024" y="5138928"/>
            <a:ext cx="1111910" cy="201168"/>
          </a:xfrm>
          <a:prstGeom prst="roundRect">
            <a:avLst>
              <a:gd name="adj" fmla="val 2272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35024" y="5138928"/>
            <a:ext cx="11119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Multi-thread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276600" y="3995928"/>
            <a:ext cx="2590800" cy="1417320"/>
          </a:xfrm>
          <a:prstGeom prst="roundRect">
            <a:avLst>
              <a:gd name="adj" fmla="val 3871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3441192" y="4123944"/>
            <a:ext cx="2261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 2026.01–02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441192" y="4325112"/>
            <a:ext cx="2261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스마트 토잉카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441192" y="4617720"/>
            <a:ext cx="2261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ROS2·MQTT 기반 공항 견인 자율주행 관제 시스템</a:t>
            </a: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3441192" y="5138928"/>
            <a:ext cx="541325" cy="201168"/>
          </a:xfrm>
          <a:prstGeom prst="roundRect">
            <a:avLst>
              <a:gd name="adj" fmla="val 2272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41192" y="5138928"/>
            <a:ext cx="5413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ROS2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037381" y="5138928"/>
            <a:ext cx="470002" cy="201168"/>
          </a:xfrm>
          <a:prstGeom prst="roundRect">
            <a:avLst>
              <a:gd name="adj" fmla="val 2272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037381" y="5138928"/>
            <a:ext cx="4700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FSM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050280" y="3995928"/>
            <a:ext cx="2590800" cy="1417320"/>
          </a:xfrm>
          <a:prstGeom prst="roundRect">
            <a:avLst>
              <a:gd name="adj" fmla="val 3871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6214872" y="4123944"/>
            <a:ext cx="2261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 2026.02–04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214872" y="4325112"/>
            <a:ext cx="2261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NETS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214872" y="4617720"/>
            <a:ext cx="2261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통신 장비 불량 재분류·수리 가이드 추천 하이브리드 RAG</a:t>
            </a:r>
            <a:endParaRPr lang="en-US" sz="880" dirty="0"/>
          </a:p>
        </p:txBody>
      </p:sp>
      <p:sp>
        <p:nvSpPr>
          <p:cNvPr id="60" name="Shape 58"/>
          <p:cNvSpPr/>
          <p:nvPr/>
        </p:nvSpPr>
        <p:spPr>
          <a:xfrm>
            <a:off x="6214872" y="5138928"/>
            <a:ext cx="683971" cy="201168"/>
          </a:xfrm>
          <a:prstGeom prst="roundRect">
            <a:avLst>
              <a:gd name="adj" fmla="val 2272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14872" y="5138928"/>
            <a:ext cx="6839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Milvus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6953707" y="5138928"/>
            <a:ext cx="541325" cy="201168"/>
          </a:xfrm>
          <a:prstGeom prst="roundRect">
            <a:avLst>
              <a:gd name="adj" fmla="val 2272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953707" y="5138928"/>
            <a:ext cx="5413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BM25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502920" y="6473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94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01 · UWB RTLS · SIGNAL PROCESSING   /   PAGE 1 OF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362395" y="347472"/>
            <a:ext cx="2278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JANG YUNSEOK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AoA 기반 단일 앵커 UWB RTLS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DS-TWR 거리와 AoA 각도를 결합해 단일 앵커로 2D 위치를 추정한 실시간 측위 시스템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8138160" cy="0"/>
          </a:xfrm>
          <a:prstGeom prst="line">
            <a:avLst/>
          </a:prstGeom>
          <a:noFill/>
          <a:ln w="12700">
            <a:solidFill>
              <a:srgbClr val="2E2E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865376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0708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구성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307080" y="1865376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[확인 필요]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1124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역할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111240" y="1865376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DS-TWR + AoA 융합 알고리즘 설계 · 펌웨어 구현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322576"/>
            <a:ext cx="43946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BACKGROUND   배경과 문제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2615184"/>
            <a:ext cx="439460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거리 기반 2D 측위는 여러 앵커가 필요해 설치 제약과 통신 오버헤드가 발생합니다. 또한 AoA 각도 추정 특성상 특정 축에서 좌표 노이즈가 커지고, 순간적으로 위치가 튀는 현상이 있었습니다.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621024"/>
            <a:ext cx="43946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CONTRIBUTION   핵심 기여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3931920"/>
            <a:ext cx="439460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DS-TWR + AoA 융합 알고리즘 설계</a:t>
            </a:r>
            <a:endParaRPr lang="en-US" sz="1150" dirty="0"/>
          </a:p>
          <a:p>
            <a:pPr algn="l"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UWB 펌웨어 구현</a:t>
            </a:r>
            <a:endParaRPr lang="en-US" sz="1150" dirty="0"/>
          </a:p>
          <a:p>
            <a:pPr algn="l"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좌표 계산 및 Kalman Filter 적용</a:t>
            </a:r>
            <a:endParaRPr lang="en-US" sz="1150" dirty="0"/>
          </a:p>
          <a:p>
            <a:pPr algn="l"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MATLAB UART 기반 실시간 위치 시각화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171846" y="2322576"/>
            <a:ext cx="3469234" cy="1975104"/>
          </a:xfrm>
          <a:prstGeom prst="roundRect">
            <a:avLst>
              <a:gd name="adj" fmla="val 2778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18150" y="2468880"/>
            <a:ext cx="3176626" cy="1426464"/>
          </a:xfrm>
          <a:prstGeom prst="roundRect">
            <a:avLst>
              <a:gd name="adj" fmla="val 2885"/>
            </a:avLst>
          </a:prstGeom>
          <a:solidFill>
            <a:srgbClr val="F5F5F7"/>
          </a:solidFill>
          <a:ln/>
        </p:spPr>
      </p:sp>
      <p:pic>
        <p:nvPicPr>
          <p:cNvPr id="19" name="Image 0" descr="/home/claude/build/assets/tri_c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4371" y="2596896"/>
            <a:ext cx="1144184" cy="117043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318150" y="3986784"/>
            <a:ext cx="31766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· 3-Anchor Triangulation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171846" y="4498848"/>
            <a:ext cx="3469234" cy="1975104"/>
          </a:xfrm>
          <a:prstGeom prst="roundRect">
            <a:avLst>
              <a:gd name="adj" fmla="val 2778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318150" y="4645152"/>
            <a:ext cx="3176626" cy="1426464"/>
          </a:xfrm>
          <a:prstGeom prst="roundRect">
            <a:avLst>
              <a:gd name="adj" fmla="val 2885"/>
            </a:avLst>
          </a:prstGeom>
          <a:solidFill>
            <a:srgbClr val="F5F5F7"/>
          </a:solidFill>
          <a:ln/>
        </p:spPr>
      </p:sp>
      <p:pic>
        <p:nvPicPr>
          <p:cNvPr id="23" name="Image 1" descr="/home/claude/build/assets/aoa_c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68" y="4773168"/>
            <a:ext cx="1166790" cy="117043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318150" y="6163056"/>
            <a:ext cx="31766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· 1-Anchor AoA + DS-TWR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94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01 · UWB RTLS · SIGNAL PROCESSING   /   PAGE 2 OF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362395" y="347472"/>
            <a:ext cx="2278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JANG YUNSEOK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AoA 기반 단일 앵커 UWB RTLS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TROUBLESHOOTING   문제 · 해결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8138160" cy="0"/>
          </a:xfrm>
          <a:prstGeom prst="line">
            <a:avLst/>
          </a:prstGeom>
          <a:noFill/>
          <a:ln w="12700">
            <a:solidFill>
              <a:srgbClr val="2E2E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755648"/>
            <a:ext cx="3959352" cy="2148840"/>
          </a:xfrm>
          <a:prstGeom prst="roundRect">
            <a:avLst>
              <a:gd name="adj" fmla="val 2553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93852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69848" y="1938528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다중 앵커 설치 제약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249424"/>
            <a:ext cx="359359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거리 기반 2D 측위는 앵커 3개 이상이 필요해 설치 공간 제약과 통신 오버헤드 발생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3040380"/>
            <a:ext cx="359359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거리(R)+각도(θ) 융합으로 앵커 1개만으로 2D 좌표 산출 — 앵커 수 3개 → 1개로 축소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81728" y="1755648"/>
            <a:ext cx="3959352" cy="2148840"/>
          </a:xfrm>
          <a:prstGeom prst="roundRect">
            <a:avLst>
              <a:gd name="adj" fmla="val 2553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64608" y="193852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248656" y="1938528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AoA 각도 노이즈로 인한 튐 현상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64608" y="2249424"/>
            <a:ext cx="359359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AoA 각도 추정 특성상 특정 축에서 좌표 노이즈가 커지고 순간적으로 위치가 튐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64608" y="3040380"/>
            <a:ext cx="359359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Kalman Filter로 좌표를 평활화해 노이즈를 완화하고 안정적인 궤적 확보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4123944"/>
            <a:ext cx="3959352" cy="2148840"/>
          </a:xfrm>
          <a:prstGeom prst="roundRect">
            <a:avLst>
              <a:gd name="adj" fmla="val 2553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430682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69848" y="430682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패킷 교환 오버헤드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4617720"/>
            <a:ext cx="359359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다중 앵커 방식은 앵커 수만큼 Poll·Response·Final 교환이 반복돼 통신량 증가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5408676"/>
            <a:ext cx="359359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앵커 DS-TWR + AoA 시퀀스로 재구성 — 패킷 교환 11회 → 3회, 약 73% 감소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81728" y="4123944"/>
            <a:ext cx="3959352" cy="2148840"/>
          </a:xfrm>
          <a:prstGeom prst="roundRect">
            <a:avLst>
              <a:gd name="adj" fmla="val 2553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64608" y="430682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248656" y="430682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동작 검증 수단 부재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64608" y="4617720"/>
            <a:ext cx="359359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계산된 좌표가 실제로 유효한지 확인할 실시간 검증 수단이 없었음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64608" y="5408676"/>
            <a:ext cx="359359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UART로 좌표를 MATLAB에 스트리밍해 실시간 위치 시각화 구현, 동작 신뢰성 확인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TECH   </a:t>
            </a:r>
            <a:pPr algn="l" indent="0" marL="0">
              <a:buNone/>
            </a:pPr>
            <a:r>
              <a:rPr lang="en-US" sz="9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DS-TWR · AoA · Kalman Filter · UART · Qorvo UWB Module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94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01 · UWB RTLS · SIGNAL PROCESSING   /   PAGE 3 OF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362395" y="347472"/>
            <a:ext cx="2278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JANG YUNSEOK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AoA 기반 단일 앵커 UWB RTLS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VALIDATION   검증과 결과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8138160" cy="0"/>
          </a:xfrm>
          <a:prstGeom prst="line">
            <a:avLst/>
          </a:prstGeom>
          <a:noFill/>
          <a:ln w="12700">
            <a:solidFill>
              <a:srgbClr val="2E2E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64208"/>
            <a:ext cx="2590800" cy="868680"/>
          </a:xfrm>
          <a:prstGeom prst="roundRect">
            <a:avLst>
              <a:gd name="adj" fmla="val 6316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803197"/>
            <a:ext cx="259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→ 1개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2237537"/>
            <a:ext cx="24079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필요 앵커 수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76600" y="1664208"/>
            <a:ext cx="2590800" cy="868680"/>
          </a:xfrm>
          <a:prstGeom prst="roundRect">
            <a:avLst>
              <a:gd name="adj" fmla="val 6316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76600" y="1803197"/>
            <a:ext cx="259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→ 3회 (-73%)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68040" y="2237537"/>
            <a:ext cx="24079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패킷 교환 횟수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50280" y="1664208"/>
            <a:ext cx="2590800" cy="868680"/>
          </a:xfrm>
          <a:prstGeom prst="roundRect">
            <a:avLst>
              <a:gd name="adj" fmla="val 6316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50280" y="1803197"/>
            <a:ext cx="259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전자파학회 동상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141720" y="2237537"/>
            <a:ext cx="24079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제4회 대학생 창의설계경진대회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2670048"/>
            <a:ext cx="8138160" cy="1691640"/>
          </a:xfrm>
          <a:prstGeom prst="roundRect">
            <a:avLst>
              <a:gd name="adj" fmla="val 3243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" y="2816352"/>
            <a:ext cx="7845552" cy="1143000"/>
          </a:xfrm>
          <a:prstGeom prst="roundRect">
            <a:avLst>
              <a:gd name="adj" fmla="val 3600"/>
            </a:avLst>
          </a:prstGeom>
          <a:solidFill>
            <a:srgbClr val="F5F5F7"/>
          </a:solidFill>
          <a:ln/>
        </p:spPr>
      </p:sp>
      <p:pic>
        <p:nvPicPr>
          <p:cNvPr id="18" name="Image 0" descr="/home/claude/build/assets/experi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2787" y="2944368"/>
            <a:ext cx="2138426" cy="88696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49224" y="4050792"/>
            <a:ext cx="7845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 환경 — 앵커 높이 19.5cm · 거리 270cm · 180×180cm 트랙 · DWM3000 + MCU → UART → MATLAB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02920" y="4498848"/>
            <a:ext cx="5045659" cy="1975104"/>
          </a:xfrm>
          <a:prstGeom prst="roundRect">
            <a:avLst>
              <a:gd name="adj" fmla="val 2778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49224" y="4645152"/>
            <a:ext cx="4753051" cy="1426464"/>
          </a:xfrm>
          <a:prstGeom prst="roundRect">
            <a:avLst>
              <a:gd name="adj" fmla="val 2885"/>
            </a:avLst>
          </a:prstGeom>
          <a:solidFill>
            <a:srgbClr val="F5F5F7"/>
          </a:solidFill>
          <a:ln/>
        </p:spPr>
      </p:sp>
      <p:pic>
        <p:nvPicPr>
          <p:cNvPr id="22" name="Image 1" descr="/home/claude/build/assets/resu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7421" y="4773168"/>
            <a:ext cx="1216656" cy="117043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49224" y="6163056"/>
            <a:ext cx="47530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좌표 추적 — 기준 사각 경로(빨강) 대비 측정 좌표(색상 점)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5731459" y="4498848"/>
            <a:ext cx="2909621" cy="1975104"/>
          </a:xfrm>
          <a:prstGeom prst="roundRect">
            <a:avLst>
              <a:gd name="adj" fmla="val 2778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5877763" y="4645152"/>
            <a:ext cx="2617013" cy="1426464"/>
          </a:xfrm>
          <a:prstGeom prst="roundRect">
            <a:avLst>
              <a:gd name="adj" fmla="val 2885"/>
            </a:avLst>
          </a:prstGeom>
          <a:solidFill>
            <a:srgbClr val="F5F5F7"/>
          </a:solidFill>
          <a:ln/>
        </p:spPr>
      </p:sp>
      <p:pic>
        <p:nvPicPr>
          <p:cNvPr id="26" name="Image 2" descr="/home/claude/build/assets/aoa_proce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5779" y="5061970"/>
            <a:ext cx="2360981" cy="592827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877763" y="6163056"/>
            <a:ext cx="261701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R(DS-TWR)·θ(AoA) → (x,y) 변환 → MATLAB 실시간 시각화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94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02 · UWB PRECISION · PHASE CORRECTION   /   PAGE 1 OF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362395" y="347472"/>
            <a:ext cx="2278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JANG YUNSEOK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채널 위상오차 제거 기반 고정밀 UWB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주파수 채널의 CIR I/Q 위상 정보를 활용해 DS-TWR의 거리측정 정밀도를 약 1cm 이내로 개선한 연구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8138160" cy="0"/>
          </a:xfrm>
          <a:prstGeom prst="line">
            <a:avLst/>
          </a:prstGeom>
          <a:noFill/>
          <a:ln w="12700">
            <a:solidFill>
              <a:srgbClr val="2E2E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865376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0708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구성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307080" y="1865376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연구 (제1저자)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1124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역할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111240" y="1865376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위상오차 제거 알고리즘 설계·구현 · 논문 제1저자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322576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BACKGROUND   배경과 문제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2615184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DS-TWR은 클럭 오프셋의 영향을 줄일 수 있지만, 송수신기 위상오차로 수 cm 수준의 거리측정오차가 남습니다. 기존 보정 방식은 복수 주파수 채널이 필요해, 단일 채널 조건에서의 개선이 필요했습니다.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62102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CONTRIBUTION   핵심 기여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3931920"/>
            <a:ext cx="4069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13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위상 복원·공통 위상오차 제거 알고리즘 설계 및 구현</a:t>
            </a:r>
            <a:endParaRPr lang="en-US" sz="1130" dirty="0"/>
          </a:p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13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거리 보정 수식 도출</a:t>
            </a:r>
            <a:endParaRPr lang="en-US" sz="1130" dirty="0"/>
          </a:p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13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Median / Kalman 기반 필터링 과정 구축</a:t>
            </a:r>
            <a:endParaRPr lang="en-US" sz="1130" dirty="0"/>
          </a:p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13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응용 구현 및 실험 검증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4846320" y="2322576"/>
            <a:ext cx="3794760" cy="4151376"/>
          </a:xfrm>
          <a:prstGeom prst="roundRect">
            <a:avLst>
              <a:gd name="adj" fmla="val 1446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92624" y="2468880"/>
            <a:ext cx="3502152" cy="3602736"/>
          </a:xfrm>
          <a:prstGeom prst="roundRect">
            <a:avLst>
              <a:gd name="adj" fmla="val 1175"/>
            </a:avLst>
          </a:prstGeom>
          <a:solidFill>
            <a:srgbClr val="F5F5F7"/>
          </a:solidFill>
          <a:ln/>
        </p:spPr>
      </p:sp>
      <p:pic>
        <p:nvPicPr>
          <p:cNvPr id="19" name="Image 0" descr="/home/claude/build/assets/phase_syst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3106479"/>
            <a:ext cx="3246120" cy="2327537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992624" y="6163056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응용 시스템 구성 — 4-Anchor + Tag, Raspberry Pi로 거리값 수집 → ROS 전달 → 좌표 계산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94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02 · UWB PRECISION · PHASE CORRECTION   /   PAGE 2 OF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362395" y="347472"/>
            <a:ext cx="2278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JANG YUNSEOK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채널 위상오차 제거 기반 고정밀 UWB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TROUBLESHOOTING   문제 · 해결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8138160" cy="0"/>
          </a:xfrm>
          <a:prstGeom prst="line">
            <a:avLst/>
          </a:prstGeom>
          <a:noFill/>
          <a:ln w="12700">
            <a:solidFill>
              <a:srgbClr val="2E2E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755648"/>
            <a:ext cx="3959352" cy="2148840"/>
          </a:xfrm>
          <a:prstGeom prst="roundRect">
            <a:avLst>
              <a:gd name="adj" fmla="val 2553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93852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69848" y="1938528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위상오차로 인한 cm급 거리오차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249424"/>
            <a:ext cx="359359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DS-TWR은 클럭 오프셋 영향은 줄이지만, 송수신기 위상오차로 수 cm 수준의 오차가 남음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3040380"/>
            <a:ext cx="359359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DW3000의 CIR I/Q 데이터에서 패킷별 순시 위상을 계산해 공통 위상오차 성분을 제거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81728" y="1755648"/>
            <a:ext cx="3959352" cy="2148840"/>
          </a:xfrm>
          <a:prstGeom prst="roundRect">
            <a:avLst>
              <a:gd name="adj" fmla="val 2553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64608" y="193852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248656" y="1938528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복수 채널이 필요한 기존 방식의 한계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64608" y="2249424"/>
            <a:ext cx="359359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위상보정 방식은 복수 주파수 채널을 필요로 해, 단일 채널 적용 환경에는 맞지 않음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64608" y="3040380"/>
            <a:ext cx="359359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패킷 전송 방향과 공통 위상 성분을 고려해, 단일 채널 조건에서 동작하는 보정 방법을 설계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4123944"/>
            <a:ext cx="3959352" cy="2148840"/>
          </a:xfrm>
          <a:prstGeom prst="roundRect">
            <a:avLst>
              <a:gd name="adj" fmla="val 2553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430682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69848" y="430682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채널에 남는 모호성·랜덤오차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4617720"/>
            <a:ext cx="359359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채널에서 위상 보정을 적용해도 위상 모호성과 랜덤 오차가 일부 남음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5408676"/>
            <a:ext cx="359359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측정과 Median/Kalman 필터링으로 잔여 오차를 완화 — 거리측정 정밀도 약 1cm 이내 확인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81728" y="4123944"/>
            <a:ext cx="3959352" cy="2148840"/>
          </a:xfrm>
          <a:prstGeom prst="roundRect">
            <a:avLst>
              <a:gd name="adj" fmla="val 2553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64608" y="430682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248656" y="430682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실사용 가능성 검증 필요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64608" y="4617720"/>
            <a:ext cx="359359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이론적으로 설계한 보정 알고리즘이 실시간 응용에서도 유효한지 확인이 필요했음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64608" y="5408676"/>
            <a:ext cx="359359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UWB 모듈 4개로 실시간 응용을 구현 — Raspberry Pi가 거리값을 수집해 ROS로 전달, 좌표 계산까지 검증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TECH   </a:t>
            </a:r>
            <a:pPr algn="l" indent="0" marL="0">
              <a:buNone/>
            </a:pPr>
            <a:r>
              <a:rPr lang="en-US" sz="9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DS-TWR · CIR I/Q Phase · Median Filter · Kalman Filter · Qorvo DW3000 · ROS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94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02 · UWB PRECISION · PHASE CORRECTION   /   PAGE 3 OF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362395" y="347472"/>
            <a:ext cx="2278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JANG YUNSEOK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채널 위상오차 제거 기반 고정밀 UWB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VALIDATION   검증과 결과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8138160" cy="0"/>
          </a:xfrm>
          <a:prstGeom prst="line">
            <a:avLst/>
          </a:prstGeom>
          <a:noFill/>
          <a:ln w="12700">
            <a:solidFill>
              <a:srgbClr val="2E2E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64208"/>
            <a:ext cx="2590800" cy="868680"/>
          </a:xfrm>
          <a:prstGeom prst="roundRect">
            <a:avLst>
              <a:gd name="adj" fmla="val 6316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803197"/>
            <a:ext cx="259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1cm 이내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2237537"/>
            <a:ext cx="24079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거리측정 정밀도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76600" y="1664208"/>
            <a:ext cx="2590800" cy="868680"/>
          </a:xfrm>
          <a:prstGeom prst="roundRect">
            <a:avLst>
              <a:gd name="adj" fmla="val 6316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76600" y="1803197"/>
            <a:ext cx="259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논문 제1저자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68040" y="2237537"/>
            <a:ext cx="24079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한국전자파학회논문지 36(8), 2025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50280" y="1664208"/>
            <a:ext cx="2590800" cy="868680"/>
          </a:xfrm>
          <a:prstGeom prst="roundRect">
            <a:avLst>
              <a:gd name="adj" fmla="val 6316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50280" y="1803197"/>
            <a:ext cx="259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4개 모듈 검증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141720" y="2237537"/>
            <a:ext cx="24079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응용 구현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2715768"/>
            <a:ext cx="3977640" cy="3758184"/>
          </a:xfrm>
          <a:prstGeom prst="roundRect">
            <a:avLst>
              <a:gd name="adj" fmla="val 1460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" y="2862072"/>
            <a:ext cx="3685032" cy="3209544"/>
          </a:xfrm>
          <a:prstGeom prst="roundRect">
            <a:avLst>
              <a:gd name="adj" fmla="val 1282"/>
            </a:avLst>
          </a:prstGeom>
          <a:solidFill>
            <a:srgbClr val="F5F5F7"/>
          </a:solidFill>
          <a:ln/>
        </p:spPr>
      </p:sp>
      <p:pic>
        <p:nvPicPr>
          <p:cNvPr id="18" name="Image 0" descr="/home/claude/build/assets/phase_coord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833847"/>
            <a:ext cx="3429000" cy="126599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49224" y="6163056"/>
            <a:ext cx="3685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2D 좌표 비교 — Origin DS-TWR(좌) vs Enhanced DS-TWR(우), 보정 후 산포 축소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663440" y="2715768"/>
            <a:ext cx="3977640" cy="3758184"/>
          </a:xfrm>
          <a:prstGeom prst="roundRect">
            <a:avLst>
              <a:gd name="adj" fmla="val 1460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809744" y="2862072"/>
            <a:ext cx="3685032" cy="3209544"/>
          </a:xfrm>
          <a:prstGeom prst="roundRect">
            <a:avLst>
              <a:gd name="adj" fmla="val 1282"/>
            </a:avLst>
          </a:prstGeom>
          <a:solidFill>
            <a:srgbClr val="F5F5F7"/>
          </a:solidFill>
          <a:ln/>
        </p:spPr>
      </p:sp>
      <p:pic>
        <p:nvPicPr>
          <p:cNvPr id="22" name="Image 1" descr="/home/claude/build/assets/phase_dist_comp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3477934"/>
            <a:ext cx="3429000" cy="1977819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809744" y="6163056"/>
            <a:ext cx="3685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거리값 비교 — 기준값(빨강 점선) 대비 Origin(위) vs Enhanced(아래)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94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03 · IEEE 802.15.4Z · TWR OPTIMIZATION   /   PAGE 1 OF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362395" y="347472"/>
            <a:ext cx="2278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JANG YUNSEOK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IEEE 802.15.4z UWB 거리측정 성능 최적화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PHY 패킷 시간과 UWB IC 처리시간을 함께 모델링해 SS-TWR 정확도와 DS-TWR 측정시간을 최적화한 연구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8138160" cy="0"/>
          </a:xfrm>
          <a:prstGeom prst="line">
            <a:avLst/>
          </a:prstGeom>
          <a:noFill/>
          <a:ln w="12700">
            <a:solidFill>
              <a:srgbClr val="2E2E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865376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0708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구성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307080" y="1865376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공동 연구 (제1저자)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1124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역할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111240" y="1865376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TWR 프로토콜·PHY 패킷 구조 분석 · 파라미터 설계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322576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BACKGROUND   배경과 문제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2615184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PHY 파라미터에 따라 패킷 시간이 달라지는데, 고정된 응답시간을 사용하면 수신 실패나 성능 저하가 발생할 수 있습니다. SS-TWR은 응답 지연이 커질수록 클럭 오프셋 영향이 커지고, DS-TWR은 불필요한 지연이 측정 횟수를 감소시킵니다.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71246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CONTRIBUTION   핵심 기여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023360"/>
            <a:ext cx="4069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13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IEEE 802.15.4z TWR 프로토콜과 PHY 패킷 구조 분석</a:t>
            </a:r>
            <a:endParaRPr lang="en-US" sz="1130" dirty="0"/>
          </a:p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13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Qorvo DW3000의 송수신 처리시간 측정 및 모델링</a:t>
            </a:r>
            <a:endParaRPr lang="en-US" sz="1130" dirty="0"/>
          </a:p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13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최적 응답시간 파라미터 계산 방법 설계</a:t>
            </a:r>
            <a:endParaRPr lang="en-US" sz="1130" dirty="0"/>
          </a:p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13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MATLAB 시뮬레이션 및 실제 하드웨어 실험 검증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4846320" y="2322576"/>
            <a:ext cx="3794760" cy="4151376"/>
          </a:xfrm>
          <a:prstGeom prst="roundRect">
            <a:avLst>
              <a:gd name="adj" fmla="val 1446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92624" y="2468880"/>
            <a:ext cx="3502152" cy="3602736"/>
          </a:xfrm>
          <a:prstGeom prst="roundRect">
            <a:avLst>
              <a:gd name="adj" fmla="val 1175"/>
            </a:avLst>
          </a:prstGeom>
          <a:solidFill>
            <a:srgbClr val="F5F5F7"/>
          </a:solidFill>
          <a:ln/>
        </p:spPr>
      </p:sp>
      <p:pic>
        <p:nvPicPr>
          <p:cNvPr id="19" name="Image 0" descr="/home/claude/build/assets/opt_twr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5823" y="2596896"/>
            <a:ext cx="2975754" cy="334670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992624" y="6163056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SS-TWR(위) · DS-TWR(아래) 거리측정 원리 — Poll·Response·Final 패킷 교환과 ToF 산출 구조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94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03 · IEEE 802.15.4Z · TWR OPTIMIZATION   /   PAGE 2 OF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362395" y="347472"/>
            <a:ext cx="2278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JANG YUNSEOK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IEEE 802.15.4z UWB 거리측정 성능 최적화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TROUBLESHOOTING   문제 · 해결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8138160" cy="0"/>
          </a:xfrm>
          <a:prstGeom prst="line">
            <a:avLst/>
          </a:prstGeom>
          <a:noFill/>
          <a:ln w="12700">
            <a:solidFill>
              <a:srgbClr val="2E2E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755648"/>
            <a:ext cx="3959352" cy="2148840"/>
          </a:xfrm>
          <a:prstGeom prst="roundRect">
            <a:avLst>
              <a:gd name="adj" fmla="val 2553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93852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69848" y="1938528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PHY 파라미터에 따른 패킷 시간 변화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249424"/>
            <a:ext cx="359359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Preamble·SFD·PHR·PSDU 구성에 따라 패킷 시간이 달라져, 고정 응답시간 사용 시 수신 실패 가능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3040380"/>
            <a:ext cx="359359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T_SHR · T_PHR · T_PSDU 계산식으로 PHY 파라미터별 패킷 시간을 정확히 모델링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81728" y="1755648"/>
            <a:ext cx="3959352" cy="2148840"/>
          </a:xfrm>
          <a:prstGeom prst="roundRect">
            <a:avLst>
              <a:gd name="adj" fmla="val 2553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64608" y="193852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248656" y="1938528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 처리시간 미반영으로 인한 타이밍 오류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64608" y="2249424"/>
            <a:ext cx="359359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UWB IC의 송수신 처리시간을 반영하지 않으면 이론값과 실제 타이밍이 어긋남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64608" y="3040380"/>
            <a:ext cx="359359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DW3000의 T_PRX(522us) 등 실측 처리시간을 반영해 Treply 산출 과정을 실측 기반으로 재구성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4123944"/>
            <a:ext cx="3959352" cy="2148840"/>
          </a:xfrm>
          <a:prstGeom prst="roundRect">
            <a:avLst>
              <a:gd name="adj" fmla="val 2553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430682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69848" y="430682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SS-TWR 응답지연 증가에 따른 오차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4617720"/>
            <a:ext cx="359359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Treply1이 커질수록 클럭 오프셋의 영향이 커져 거리측정 분산이 증가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5408676"/>
            <a:ext cx="359359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Packet time을 고려한 최소 응답시간 설정으로 불필요한 지연을 제거해 분산 증가 조건을 정량 확인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81728" y="4123944"/>
            <a:ext cx="3959352" cy="2148840"/>
          </a:xfrm>
          <a:prstGeom prst="roundRect">
            <a:avLst>
              <a:gd name="adj" fmla="val 2553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64608" y="430682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248656" y="430682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DS-TWR 측정 효율 저하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64608" y="4617720"/>
            <a:ext cx="359359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불필요한 응답 지연은 단위 시간당 측정 횟수를 감소시켜 실시간성이 떨어짐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64608" y="5408676"/>
            <a:ext cx="359359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프리앰블 길이별 최소 Treply를 계산해, 정확도를 유지하면서 단위 시간당 측정 횟수를 최대화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TECH   </a:t>
            </a:r>
            <a:pPr algn="l" indent="0" marL="0">
              <a:buNone/>
            </a:pPr>
            <a:r>
              <a:rPr lang="en-US" sz="9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SS-TWR · DS-TWR · PHY Packet Timing · Qorvo DW3000 · Nordic nRF52840 · MATLAB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94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03 · IEEE 802.15.4Z · TWR OPTIMIZATION   /   PAGE 3 OF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362395" y="347472"/>
            <a:ext cx="2278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JANG YUNSEOK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IEEE 802.15.4z UWB 거리측정 성능 최적화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VALIDATION   검증과 결과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8138160" cy="0"/>
          </a:xfrm>
          <a:prstGeom prst="line">
            <a:avLst/>
          </a:prstGeom>
          <a:noFill/>
          <a:ln w="12700">
            <a:solidFill>
              <a:srgbClr val="2E2E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64208"/>
            <a:ext cx="2590800" cy="868680"/>
          </a:xfrm>
          <a:prstGeom prst="roundRect">
            <a:avLst>
              <a:gd name="adj" fmla="val 6316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803197"/>
            <a:ext cx="259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논문 게재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2237537"/>
            <a:ext cx="24079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한국전자파학회논문지 36(3), 2025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76600" y="1664208"/>
            <a:ext cx="2590800" cy="868680"/>
          </a:xfrm>
          <a:prstGeom prst="roundRect">
            <a:avLst>
              <a:gd name="adj" fmla="val 6316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76600" y="1803197"/>
            <a:ext cx="259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이론 = 실측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68040" y="2237537"/>
            <a:ext cx="24079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MATLAB 예측값과 하드웨어 실험값 일치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50280" y="1664208"/>
            <a:ext cx="2590800" cy="868680"/>
          </a:xfrm>
          <a:prstGeom prst="roundRect">
            <a:avLst>
              <a:gd name="adj" fmla="val 6316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50280" y="1803197"/>
            <a:ext cx="259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128 vs 1024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141720" y="2237537"/>
            <a:ext cx="24079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Preamble 길이별 정확도-측정횟수 트레이드오프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2715768"/>
            <a:ext cx="3418027" cy="3758184"/>
          </a:xfrm>
          <a:prstGeom prst="roundRect">
            <a:avLst>
              <a:gd name="adj" fmla="val 1605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" y="2862072"/>
            <a:ext cx="3125419" cy="3209544"/>
          </a:xfrm>
          <a:prstGeom prst="roundRect">
            <a:avLst>
              <a:gd name="adj" fmla="val 1317"/>
            </a:avLst>
          </a:prstGeom>
          <a:solidFill>
            <a:srgbClr val="F5F5F7"/>
          </a:solidFill>
          <a:ln/>
        </p:spPr>
      </p:sp>
      <p:pic>
        <p:nvPicPr>
          <p:cNvPr id="18" name="Image 0" descr="/home/claude/build/assets/opt_ss_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087944"/>
            <a:ext cx="2869387" cy="27578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49224" y="6163056"/>
            <a:ext cx="31254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SS-TWR — Treply1 증가에 따른 거리 분산 증가 확인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103827" y="2715768"/>
            <a:ext cx="4537253" cy="3758184"/>
          </a:xfrm>
          <a:prstGeom prst="roundRect">
            <a:avLst>
              <a:gd name="adj" fmla="val 1460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250131" y="2862072"/>
            <a:ext cx="4244645" cy="3209544"/>
          </a:xfrm>
          <a:prstGeom prst="roundRect">
            <a:avLst>
              <a:gd name="adj" fmla="val 1282"/>
            </a:avLst>
          </a:prstGeom>
          <a:solidFill>
            <a:srgbClr val="F5F5F7"/>
          </a:solidFill>
          <a:ln/>
        </p:spPr>
      </p:sp>
      <p:pic>
        <p:nvPicPr>
          <p:cNvPr id="22" name="Image 1" descr="/home/claude/build/assets/opt_ds_resu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1634" y="2990088"/>
            <a:ext cx="1321638" cy="295351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250131" y="6163056"/>
            <a:ext cx="424464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DS-TWR — Preamble 128(위) / 1024(아래), 계산값·실측값이 일치하며 10초당 측정 횟수 비교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94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04 · C++ SIMULATOR · CROSS-PLATFORM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362395" y="347472"/>
            <a:ext cx="2278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JANG YUNSEOK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RobotPal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JETANK SDK 호환 C++ 시뮬레이터 기반 가상 로봇 Python SDK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8138160" cy="0"/>
          </a:xfrm>
          <a:prstGeom prst="line">
            <a:avLst/>
          </a:prstGeom>
          <a:noFill/>
          <a:ln w="12700">
            <a:solidFill>
              <a:srgbClr val="2E2E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865376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2025.11 – 2025.12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0708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구성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307080" y="1865376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프로젝트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1124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역할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111240" y="1865376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C++ 시뮬레이터 네트워크 계층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322576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CONTRIBUTION   핵심 기여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2633472"/>
            <a:ext cx="4069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네트워크 추상화 계층(Transport Layer) 설계</a:t>
            </a:r>
            <a:endParaRPr lang="en-US" sz="1100" dirty="0"/>
          </a:p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Producer-Consumer NetworkQueue로 스레드 안전성 확보</a:t>
            </a:r>
            <a:endParaRPr lang="en-US" sz="1100" dirty="0"/>
          </a:p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플랫폼별 Transport 구현(TCP/WebSocket) + 팩토리 패턴</a:t>
            </a:r>
            <a:endParaRPr lang="en-US" sz="1100" dirty="0"/>
          </a:p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데스크톱·웹 단일 코드베이스로 하드웨어 없는 SDK 검증 환경 구축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447141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무선망 운용 경험이 아닌, 통신 처리 병목을 분석하고 실행 구조를 개선한 시스템 구현 경험입니다.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46320" y="2322576"/>
            <a:ext cx="3794760" cy="2423160"/>
          </a:xfrm>
          <a:prstGeom prst="roundRect">
            <a:avLst>
              <a:gd name="adj" fmla="val 2264"/>
            </a:avLst>
          </a:prstGeom>
          <a:solidFill>
            <a:srgbClr val="121214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67324" y="2468880"/>
            <a:ext cx="2352751" cy="402336"/>
          </a:xfrm>
          <a:prstGeom prst="roundRect">
            <a:avLst>
              <a:gd name="adj" fmla="val 11364"/>
            </a:avLst>
          </a:prstGeom>
          <a:solidFill>
            <a:srgbClr val="202027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58764" y="2533254"/>
            <a:ext cx="216987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NetworkEngine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58764" y="2694188"/>
            <a:ext cx="2169871" cy="160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3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인터페이스에만 의존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6743700" y="2871216"/>
            <a:ext cx="0" cy="182880"/>
          </a:xfrm>
          <a:prstGeom prst="line">
            <a:avLst/>
          </a:prstGeom>
          <a:noFill/>
          <a:ln w="15875">
            <a:solidFill>
              <a:srgbClr val="6E6E7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111953" y="3072384"/>
            <a:ext cx="3263494" cy="438912"/>
          </a:xfrm>
          <a:prstGeom prst="roundRect">
            <a:avLst>
              <a:gd name="adj" fmla="val 10417"/>
            </a:avLst>
          </a:prstGeom>
          <a:solidFill>
            <a:srgbClr val="202027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03393" y="3142610"/>
            <a:ext cx="3080614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«interface» NetworkTransport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203393" y="3318175"/>
            <a:ext cx="3080614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3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Connect · Send · Disconnect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5908853" y="3511296"/>
            <a:ext cx="0" cy="182880"/>
          </a:xfrm>
          <a:prstGeom prst="line">
            <a:avLst/>
          </a:prstGeom>
          <a:noFill/>
          <a:ln w="15875">
            <a:solidFill>
              <a:srgbClr val="6E6E7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578547" y="3511296"/>
            <a:ext cx="0" cy="182880"/>
          </a:xfrm>
          <a:prstGeom prst="line">
            <a:avLst/>
          </a:prstGeom>
          <a:noFill/>
          <a:ln w="15875">
            <a:solidFill>
              <a:srgbClr val="6E6E7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901184" y="3712464"/>
            <a:ext cx="1745590" cy="493776"/>
          </a:xfrm>
          <a:prstGeom prst="roundRect">
            <a:avLst>
              <a:gd name="adj" fmla="val 9259"/>
            </a:avLst>
          </a:prstGeom>
          <a:solidFill>
            <a:srgbClr val="202027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3791468"/>
            <a:ext cx="1562710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TcpNetworkTransport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92624" y="3988979"/>
            <a:ext cx="1562710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Desktop · WinSock2/POSIX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6840626" y="3712464"/>
            <a:ext cx="1745590" cy="493776"/>
          </a:xfrm>
          <a:prstGeom prst="roundRect">
            <a:avLst>
              <a:gd name="adj" fmla="val 9259"/>
            </a:avLst>
          </a:prstGeom>
          <a:solidFill>
            <a:srgbClr val="202027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32066" y="3791468"/>
            <a:ext cx="1562710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WebSocketTransport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32066" y="3988979"/>
            <a:ext cx="1562710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 · Emscripten</a:t>
            </a:r>
            <a:endParaRPr lang="en-US" sz="760" dirty="0"/>
          </a:p>
        </p:txBody>
      </p:sp>
      <p:sp>
        <p:nvSpPr>
          <p:cNvPr id="32" name="Text 30"/>
          <p:cNvSpPr/>
          <p:nvPr/>
        </p:nvSpPr>
        <p:spPr>
          <a:xfrm>
            <a:off x="4846320" y="4334256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NetworkTransport::Create() — #ifdef 한 곳에 집약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502920" y="4965192"/>
            <a:ext cx="8138160" cy="1280160"/>
          </a:xfrm>
          <a:prstGeom prst="roundRect">
            <a:avLst>
              <a:gd name="adj" fmla="val 4286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85800" y="514807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252728" y="5148072"/>
            <a:ext cx="7205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블로킹 네트워크 처리로 인한 프레임 정지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5800" y="54589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블로킹 recv/send를 메인 루프에서 호출 → 프레임 정지, std::queue 동시 접근 시 UB 발생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85800" y="58155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mutex로 캡슐화한 NetworkQueue — 생산자는 Push, 소비자는 TryPop(빈 큐는 nullopt)으로 논블로킹 안전 접근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" y="647395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TECH   </a:t>
            </a:r>
            <a:pPr algn="l" indent="0" marL="0">
              <a:buNone/>
            </a:pPr>
            <a:r>
              <a:rPr lang="en-US" sz="9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C++17 · CMake/Emscripten · WinSock2/POSIX · WebSocket · std::thread/mutex · Python 3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94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05 · EMBEDDED · ROS2 AUTONOMY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362395" y="347472"/>
            <a:ext cx="2278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JANG YUNSEOK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스마트 토잉카 관제 시스템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비전 도킹·제스처 인식과 ROS2 자율주행으로 공항 항공기 견인을 자동화한 관제 시스템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8138160" cy="0"/>
          </a:xfrm>
          <a:prstGeom prst="line">
            <a:avLst/>
          </a:prstGeom>
          <a:noFill/>
          <a:ln w="12700">
            <a:solidFill>
              <a:srgbClr val="2E2E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865376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2026.01 – 2026.02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0708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구성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307080" y="1865376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프로젝트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1124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역할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111240" y="1865376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FSM 기반 ROS2 노드 설계·통합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322576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CONTRIBUTION   핵심 기여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2633472"/>
            <a:ext cx="4069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FSM 기반 ROS2 노드 설계 및 전체 기능 통합(도킹·마샬러·자율주행·MQTT)</a:t>
            </a:r>
            <a:endParaRPr lang="en-US" sz="1100" dirty="0"/>
          </a:p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Gazebo 시뮬레이션 환경 구축 및 실제 차량 이식</a:t>
            </a:r>
            <a:endParaRPr lang="en-US" sz="1100" dirty="0"/>
          </a:p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멀티스레드 MQTT–ROS2 통신 구조 설계</a:t>
            </a:r>
            <a:endParaRPr lang="en-US" sz="1100" dirty="0"/>
          </a:p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ArUco 도킹 정확도를 카메라 캘리브레이션으로 실차 보정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2322576"/>
            <a:ext cx="3794760" cy="2423160"/>
          </a:xfrm>
          <a:prstGeom prst="roundRect">
            <a:avLst>
              <a:gd name="adj" fmla="val 2264"/>
            </a:avLst>
          </a:prstGeom>
          <a:solidFill>
            <a:srgbClr val="121214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19472" y="2523744"/>
            <a:ext cx="1290218" cy="457200"/>
          </a:xfrm>
          <a:prstGeom prst="roundRect">
            <a:avLst>
              <a:gd name="adj" fmla="val 10000"/>
            </a:avLst>
          </a:prstGeom>
          <a:solidFill>
            <a:srgbClr val="202027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10912" y="2596896"/>
            <a:ext cx="110733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관제탑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10912" y="2779776"/>
            <a:ext cx="11073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Ground Control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7050024" y="2523744"/>
            <a:ext cx="1517904" cy="457200"/>
          </a:xfrm>
          <a:prstGeom prst="roundRect">
            <a:avLst>
              <a:gd name="adj" fmla="val 10000"/>
            </a:avLst>
          </a:prstGeom>
          <a:solidFill>
            <a:srgbClr val="202027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41464" y="2596896"/>
            <a:ext cx="13350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FSM ROS2 Node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41464" y="2779776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Jetson Orin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209690" y="2752344"/>
            <a:ext cx="840334" cy="0"/>
          </a:xfrm>
          <a:prstGeom prst="line">
            <a:avLst/>
          </a:prstGeom>
          <a:noFill/>
          <a:ln w="15875">
            <a:solidFill>
              <a:srgbClr val="6E6E78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6163970" y="2779776"/>
            <a:ext cx="93177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MQTT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808976" y="2980944"/>
            <a:ext cx="0" cy="256032"/>
          </a:xfrm>
          <a:prstGeom prst="line">
            <a:avLst/>
          </a:prstGeom>
          <a:noFill/>
          <a:ln w="15875">
            <a:solidFill>
              <a:srgbClr val="6E6E7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H="1">
            <a:off x="5497068" y="3236976"/>
            <a:ext cx="2311908" cy="292608"/>
          </a:xfrm>
          <a:prstGeom prst="line">
            <a:avLst/>
          </a:prstGeom>
          <a:noFill/>
          <a:ln w="15875">
            <a:solidFill>
              <a:srgbClr val="6E6E7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919472" y="3557016"/>
            <a:ext cx="1155192" cy="512064"/>
          </a:xfrm>
          <a:prstGeom prst="roundRect">
            <a:avLst>
              <a:gd name="adj" fmla="val 8929"/>
            </a:avLst>
          </a:prstGeom>
          <a:solidFill>
            <a:srgbClr val="202027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3638946"/>
            <a:ext cx="97231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도킹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10912" y="3843772"/>
            <a:ext cx="972312" cy="204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3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ArUco · solvePnP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 flipH="1">
            <a:off x="6743700" y="3236976"/>
            <a:ext cx="1065276" cy="292608"/>
          </a:xfrm>
          <a:prstGeom prst="line">
            <a:avLst/>
          </a:prstGeom>
          <a:noFill/>
          <a:ln w="15875">
            <a:solidFill>
              <a:srgbClr val="6E6E7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166104" y="3557016"/>
            <a:ext cx="1155192" cy="512064"/>
          </a:xfrm>
          <a:prstGeom prst="roundRect">
            <a:avLst>
              <a:gd name="adj" fmla="val 8929"/>
            </a:avLst>
          </a:prstGeom>
          <a:solidFill>
            <a:srgbClr val="202027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57544" y="3638946"/>
            <a:ext cx="97231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마샬러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57544" y="3843772"/>
            <a:ext cx="972312" cy="204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3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YOLOv8 Pose</a:t>
            </a:r>
            <a:endParaRPr lang="en-US" sz="730" dirty="0"/>
          </a:p>
        </p:txBody>
      </p:sp>
      <p:sp>
        <p:nvSpPr>
          <p:cNvPr id="33" name="Shape 31"/>
          <p:cNvSpPr/>
          <p:nvPr/>
        </p:nvSpPr>
        <p:spPr>
          <a:xfrm>
            <a:off x="7808976" y="3236976"/>
            <a:ext cx="181356" cy="292608"/>
          </a:xfrm>
          <a:prstGeom prst="line">
            <a:avLst/>
          </a:prstGeom>
          <a:noFill/>
          <a:ln w="15875">
            <a:solidFill>
              <a:srgbClr val="6E6E78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412736" y="3557016"/>
            <a:ext cx="1155192" cy="512064"/>
          </a:xfrm>
          <a:prstGeom prst="roundRect">
            <a:avLst>
              <a:gd name="adj" fmla="val 8929"/>
            </a:avLst>
          </a:prstGeom>
          <a:solidFill>
            <a:srgbClr val="202027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04176" y="3638946"/>
            <a:ext cx="97231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자율주행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504176" y="3843772"/>
            <a:ext cx="972312" cy="204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3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Nav2</a:t>
            </a:r>
            <a:endParaRPr lang="en-US" sz="730" dirty="0"/>
          </a:p>
        </p:txBody>
      </p:sp>
      <p:sp>
        <p:nvSpPr>
          <p:cNvPr id="37" name="Text 35"/>
          <p:cNvSpPr/>
          <p:nvPr/>
        </p:nvSpPr>
        <p:spPr>
          <a:xfrm>
            <a:off x="4846320" y="4197096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Publisher는 단일 타이머 스레드 경로에서만 발행</a:t>
            </a:r>
            <a:endParaRPr lang="en-US" sz="830" dirty="0"/>
          </a:p>
        </p:txBody>
      </p:sp>
      <p:sp>
        <p:nvSpPr>
          <p:cNvPr id="38" name="Shape 36"/>
          <p:cNvSpPr/>
          <p:nvPr/>
        </p:nvSpPr>
        <p:spPr>
          <a:xfrm>
            <a:off x="502920" y="4965192"/>
            <a:ext cx="8138160" cy="1280160"/>
          </a:xfrm>
          <a:prstGeom prst="roundRect">
            <a:avLst>
              <a:gd name="adj" fmla="val 4286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85800" y="514807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252728" y="5148072"/>
            <a:ext cx="7205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ROS Publisher 스레드 안전성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85800" y="54589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MQTT 스레드와 ROS 콜백이 같은 상태 변수에 접근, 외부 스레드에서 publish (ROS2 미보장)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5800" y="58155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콜백은 상태 변수만 수정하고, 발행은 0.5초 주기 타이머 콜백(단일 executor 경로)에서만 수행하도록 분리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2920" y="647395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TECH   </a:t>
            </a:r>
            <a:pPr algn="l" indent="0" marL="0">
              <a:buNone/>
            </a:pPr>
            <a:r>
              <a:rPr lang="en-US" sz="9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ROS2 · Nav2 · Gazebo · YOLOv8(Pose) · OpenCV · MQTT(paho) · Jetson Orin · Camera Calibration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94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06 · SAMSUNG NETWORK · AI / RAG   /   PAGE 1 OF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362395" y="347472"/>
            <a:ext cx="2278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JANG YUNSEOK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통신 장비 RMA·인벤토리 기반 불량 증상 재분류·수리 가이드 추천 하이브리드 RAG 플랫폼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8138160" cy="0"/>
          </a:xfrm>
          <a:prstGeom prst="line">
            <a:avLst/>
          </a:prstGeom>
          <a:noFill/>
          <a:ln w="12700">
            <a:solidFill>
              <a:srgbClr val="2E2E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86600" y="329184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202027"/>
          </a:solidFill>
          <a:ln w="12700">
            <a:solidFill>
              <a:srgbClr val="5A3A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86600" y="32918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연계 프로젝트 3위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1865376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2026.02 – 2026.04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0708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구성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307080" y="1865376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삼성전자 네트워크사업부 연계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1124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역할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111240" y="1865376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재분류 · 추천 에이전트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2322576"/>
            <a:ext cx="390631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CONTRIBUTION   핵심 기여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633472"/>
            <a:ext cx="3906317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08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Milvus + BM25 하이브리드 RAG 불량 증상 재분류 API 설계·구현</a:t>
            </a:r>
            <a:endParaRPr lang="en-US" sz="1080" dirty="0"/>
          </a:p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08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RMA 전처리·임베딩 파이프라인 및 평가지표(Hit@5, MRR) 설계</a:t>
            </a:r>
            <a:endParaRPr lang="en-US" sz="1080" dirty="0"/>
          </a:p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08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LangGraph 수리 가이드 에이전트 + Milvus 하이브리드 검색 연동</a:t>
            </a:r>
            <a:endParaRPr lang="en-US" sz="1080" dirty="0"/>
          </a:p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08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시리얼 조회 → 벡터 검색 → 가이드 스트리밍 전체 흐름 구축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4683557" y="2322576"/>
            <a:ext cx="3957523" cy="3310128"/>
          </a:xfrm>
          <a:prstGeom prst="roundRect">
            <a:avLst>
              <a:gd name="adj" fmla="val 1657"/>
            </a:avLst>
          </a:prstGeom>
          <a:solidFill>
            <a:srgbClr val="121214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56336" y="2468880"/>
            <a:ext cx="2611965" cy="365760"/>
          </a:xfrm>
          <a:prstGeom prst="roundRect">
            <a:avLst>
              <a:gd name="adj" fmla="val 12500"/>
            </a:avLst>
          </a:prstGeom>
          <a:solidFill>
            <a:srgbClr val="202027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7776" y="2468880"/>
            <a:ext cx="24290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Query (불량 증상)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662318" y="2834640"/>
            <a:ext cx="0" cy="201168"/>
          </a:xfrm>
          <a:prstGeom prst="line">
            <a:avLst/>
          </a:prstGeom>
          <a:noFill/>
          <a:ln w="15875">
            <a:solidFill>
              <a:srgbClr val="6E6E7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H="1">
            <a:off x="5695798" y="3035808"/>
            <a:ext cx="966521" cy="201168"/>
          </a:xfrm>
          <a:prstGeom prst="line">
            <a:avLst/>
          </a:prstGeom>
          <a:noFill/>
          <a:ln w="15875">
            <a:solidFill>
              <a:srgbClr val="6E6E7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662318" y="3035808"/>
            <a:ext cx="966521" cy="201168"/>
          </a:xfrm>
          <a:prstGeom prst="line">
            <a:avLst/>
          </a:prstGeom>
          <a:noFill/>
          <a:ln w="15875">
            <a:solidFill>
              <a:srgbClr val="6E6E7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820717" y="3255264"/>
            <a:ext cx="1750162" cy="365760"/>
          </a:xfrm>
          <a:prstGeom prst="roundRect">
            <a:avLst>
              <a:gd name="adj" fmla="val 12500"/>
            </a:avLst>
          </a:prstGeom>
          <a:solidFill>
            <a:srgbClr val="202027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2157" y="3255264"/>
            <a:ext cx="15672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BM25 키워드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53758" y="3255264"/>
            <a:ext cx="1750162" cy="365760"/>
          </a:xfrm>
          <a:prstGeom prst="roundRect">
            <a:avLst>
              <a:gd name="adj" fmla="val 12500"/>
            </a:avLst>
          </a:prstGeom>
          <a:solidFill>
            <a:srgbClr val="202027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45198" y="3255264"/>
            <a:ext cx="15672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Milvus 벡터 검색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95798" y="3621024"/>
            <a:ext cx="966521" cy="201168"/>
          </a:xfrm>
          <a:prstGeom prst="line">
            <a:avLst/>
          </a:prstGeom>
          <a:noFill/>
          <a:ln w="15875">
            <a:solidFill>
              <a:srgbClr val="6E6E7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H="1">
            <a:off x="6662318" y="3621024"/>
            <a:ext cx="966521" cy="201168"/>
          </a:xfrm>
          <a:prstGeom prst="line">
            <a:avLst/>
          </a:prstGeom>
          <a:noFill/>
          <a:ln w="15875">
            <a:solidFill>
              <a:srgbClr val="6E6E7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356336" y="3840480"/>
            <a:ext cx="2611965" cy="365760"/>
          </a:xfrm>
          <a:prstGeom prst="roundRect">
            <a:avLst>
              <a:gd name="adj" fmla="val 12500"/>
            </a:avLst>
          </a:prstGeom>
          <a:solidFill>
            <a:srgbClr val="202027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47776" y="3840480"/>
            <a:ext cx="24290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RRF 융합 · Convex Comb.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662318" y="4206240"/>
            <a:ext cx="0" cy="164592"/>
          </a:xfrm>
          <a:prstGeom prst="line">
            <a:avLst/>
          </a:prstGeom>
          <a:noFill/>
          <a:ln w="15875">
            <a:solidFill>
              <a:srgbClr val="6E6E7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356336" y="4389120"/>
            <a:ext cx="2611965" cy="365760"/>
          </a:xfrm>
          <a:prstGeom prst="roundRect">
            <a:avLst>
              <a:gd name="adj" fmla="val 12500"/>
            </a:avLst>
          </a:prstGeom>
          <a:solidFill>
            <a:srgbClr val="202027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47776" y="4389120"/>
            <a:ext cx="24290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Cross-Encoder Re-rank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662318" y="4754880"/>
            <a:ext cx="0" cy="164592"/>
          </a:xfrm>
          <a:prstGeom prst="line">
            <a:avLst/>
          </a:prstGeom>
          <a:noFill/>
          <a:ln w="15875">
            <a:solidFill>
              <a:srgbClr val="6E6E78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356336" y="4937760"/>
            <a:ext cx="2611965" cy="457200"/>
          </a:xfrm>
          <a:prstGeom prst="roundRect">
            <a:avLst>
              <a:gd name="adj" fmla="val 10000"/>
            </a:avLst>
          </a:prstGeom>
          <a:solidFill>
            <a:srgbClr val="202027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47776" y="5010912"/>
            <a:ext cx="242908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객관식 판단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47776" y="5193792"/>
            <a:ext cx="242908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카테고리 재분류</a:t>
            </a:r>
            <a:endParaRPr lang="en-US" sz="760" dirty="0"/>
          </a:p>
        </p:txBody>
      </p:sp>
      <p:sp>
        <p:nvSpPr>
          <p:cNvPr id="38" name="Text 36"/>
          <p:cNvSpPr/>
          <p:nvPr/>
        </p:nvSpPr>
        <p:spPr>
          <a:xfrm>
            <a:off x="502920" y="647395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TECH   </a:t>
            </a:r>
            <a:pPr algn="l" indent="0" marL="0">
              <a:buNone/>
            </a:pPr>
            <a:r>
              <a:rPr lang="en-US" sz="9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Milvus · BM25 · Hybrid Search (RRF) · Cross-Encoder Re-ranker · LangGraph · FastAPI · MariaDB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94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06 · SAMSUNG NETWORK · AI / RAG   /   PAGE 2 OF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362395" y="347472"/>
            <a:ext cx="2278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JANG YUNSEOK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TROUBLESHOOTING   문제 · 해결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8138160" cy="0"/>
          </a:xfrm>
          <a:prstGeom prst="line">
            <a:avLst/>
          </a:prstGeom>
          <a:noFill/>
          <a:ln w="12700">
            <a:solidFill>
              <a:srgbClr val="2E2E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64208"/>
            <a:ext cx="2590800" cy="777240"/>
          </a:xfrm>
          <a:prstGeom prst="roundRect">
            <a:avLst>
              <a:gd name="adj" fmla="val 7059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88566"/>
            <a:ext cx="2590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3위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2177186"/>
            <a:ext cx="24079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우수팀 성과 (연계 프로젝트)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76600" y="1664208"/>
            <a:ext cx="2590800" cy="777240"/>
          </a:xfrm>
          <a:prstGeom prst="roundRect">
            <a:avLst>
              <a:gd name="adj" fmla="val 7059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76600" y="1788566"/>
            <a:ext cx="2590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Hit@5 · MRR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68040" y="2177186"/>
            <a:ext cx="24079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재분류 정확도 평가지표 직접 설계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50280" y="1664208"/>
            <a:ext cx="2590800" cy="777240"/>
          </a:xfrm>
          <a:prstGeom prst="roundRect">
            <a:avLst>
              <a:gd name="adj" fmla="val 7059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50280" y="1788566"/>
            <a:ext cx="2590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BM25 + Milvus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141720" y="2177186"/>
            <a:ext cx="24079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하이브리드 검색 구조 설계·구현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2624328"/>
            <a:ext cx="3968496" cy="1783080"/>
          </a:xfrm>
          <a:prstGeom prst="roundRect">
            <a:avLst>
              <a:gd name="adj" fmla="val 3077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280720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69848" y="280720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메타데이터 과필터로 후보 고갈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3118104"/>
            <a:ext cx="3602736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대·중·소분류 동시 필터링 시 참조 후보 부족, RRF 점수 불안정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3726180"/>
            <a:ext cx="3602736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Technical Category만 필터, 세부 분류는 임베딩 텍스트로 이전 → 후보 확보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72584" y="2624328"/>
            <a:ext cx="3968496" cy="1783080"/>
          </a:xfrm>
          <a:prstGeom prst="roundRect">
            <a:avLst>
              <a:gd name="adj" fmla="val 3077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55464" y="280720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239512" y="280720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할루시네이션 카테고리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55464" y="3118104"/>
            <a:ext cx="3602736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자유 생성 방식이 후보에 없는 카테고리명을 만들어 무효값 적재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55464" y="3726180"/>
            <a:ext cx="3602736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 번호 객관식 프롬프트 + regex 폴백 + 범위 검증 3단 방어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4608576"/>
            <a:ext cx="3968496" cy="1783080"/>
          </a:xfrm>
          <a:prstGeom prst="roundRect">
            <a:avLst>
              <a:gd name="adj" fmla="val 3077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5800" y="479145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69848" y="479145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멀티턴 세션 맥락 유지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" y="5102352"/>
            <a:ext cx="3602736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stateless 에이전트, 체크포인터는 thread 단위라 채팅방 변경 시 맥락 소실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" y="5710428"/>
            <a:ext cx="3602736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AsyncSqliteSaver(단기) + PersistentSqliteStore(전역 장기) 2계층 메모리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72584" y="4608576"/>
            <a:ext cx="3968496" cy="1783080"/>
          </a:xfrm>
          <a:prstGeom prst="roundRect">
            <a:avLst>
              <a:gd name="adj" fmla="val 3077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55464" y="479145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239512" y="479145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시각화 결과 토큰 폭발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55464" y="5102352"/>
            <a:ext cx="3602736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차트 HTML/PNG(base64)가 LLM 컨텍스트에 그대로 삽입돼 비용·속도 악화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55464" y="5710428"/>
            <a:ext cx="3602736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래퍼가 결과를 디스크에 저장하고 file_url만 반환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647395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TECH   </a:t>
            </a:r>
            <a:pPr algn="l" indent="0" marL="0">
              <a:buNone/>
            </a:pPr>
            <a:r>
              <a:rPr lang="en-US" sz="9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Milvus · BM25/RRF · LangGraph · AsyncSqliteSaver · BaseStore · MCP Tools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169164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Thank You.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02920" y="27889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무선 신호 분석부터 실험 검증까지 — 현장에서 결과로 증명되는 무선 Network를 만들겠습니다.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3520440"/>
            <a:ext cx="2578608" cy="914400"/>
          </a:xfrm>
          <a:prstGeom prst="roundRect">
            <a:avLst>
              <a:gd name="adj" fmla="val 6000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22376" y="3703320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EMAIL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22376" y="3977640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jangys7892@gmail.com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82696" y="3520440"/>
            <a:ext cx="2578608" cy="914400"/>
          </a:xfrm>
          <a:prstGeom prst="roundRect">
            <a:avLst>
              <a:gd name="adj" fmla="val 6000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02152" y="3703320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502152" y="3977640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github.com/FastTurtle7892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62472" y="3520440"/>
            <a:ext cx="2578608" cy="914400"/>
          </a:xfrm>
          <a:prstGeom prst="roundRect">
            <a:avLst>
              <a:gd name="adj" fmla="val 6000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81928" y="3703320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ORCID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81928" y="3977640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0009-0008-2251-6135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6199632"/>
            <a:ext cx="8138160" cy="0"/>
          </a:xfrm>
          <a:prstGeom prst="line">
            <a:avLst/>
          </a:prstGeom>
          <a:noFill/>
          <a:ln w="12700">
            <a:solidFill>
              <a:srgbClr val="2E2E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327648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ABOUT ↗      PROJECTS ↗      SKILLS ↗      CONTACT ↗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85816" y="6327648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JANG YUNSEOK · PORTFOLIO FOR SK TELECOM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2026-09-16T11:32:00Z</dcterms:created>
  <dcterms:modified xsi:type="dcterms:W3CDTF">2026-09-16T11:32:00Z</dcterms:modified>
</cp:coreProperties>
</file>