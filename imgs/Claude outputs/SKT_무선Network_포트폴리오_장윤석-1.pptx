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7240"/>
            <a:ext cx="128016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777240"/>
            <a:ext cx="128016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" y="777240"/>
            <a:ext cx="128016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777240"/>
            <a:ext cx="7607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PORTFOLIO FOR SK TELECOM · 무선 NETWORK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Portfolio by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517904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장윤석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무선 신호와 장비의 동작을 분석하고, 실험으로 성능 개선을 검증하는 엔지니어입니다.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2464308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11880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SIGNAL PROCESSING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76956" y="3611880"/>
            <a:ext cx="2043684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6956" y="3611880"/>
            <a:ext cx="20436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WIRELESS PROTOCOL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0368" y="3611880"/>
            <a:ext cx="1623060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3611880"/>
            <a:ext cx="16230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/ EMBEDDED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63156" y="3611880"/>
            <a:ext cx="676656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3156" y="361188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2779776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2336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 OPTIMIZATION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01/23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신호와 장비의 동작을 분석하고,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실험으로 성능 개선을 검증합니다.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471270"/>
            <a:ext cx="152400" cy="20117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8" name="Shape 6"/>
          <p:cNvSpPr/>
          <p:nvPr/>
        </p:nvSpPr>
        <p:spPr>
          <a:xfrm>
            <a:off x="655320" y="1471270"/>
            <a:ext cx="152400" cy="20117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9" name="Shape 7"/>
          <p:cNvSpPr/>
          <p:nvPr/>
        </p:nvSpPr>
        <p:spPr>
          <a:xfrm>
            <a:off x="807720" y="1471270"/>
            <a:ext cx="152400" cy="20117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481328"/>
            <a:ext cx="7680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2763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전자공학을 전공하며 IEEE 802.15.4z UWB의 신호·프로토콜·장비 성능을 분석해 논문 2편을 게재했고, 실제 하드웨어 실험으로 결과를 검증해 왔습니다. 이후 SSAFY 임베디드 트랙에서 시스템 구현과 AI 활용 역량으로 구현 수단을 넓혔습니다.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2602992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15550"/>
            <a:ext cx="2602992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4.33 / 4.5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685544" y="3099450"/>
            <a:ext cx="237744" cy="2377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98205"/>
            <a:ext cx="2420112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 평점 (전체 4.27)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70504" y="2487168"/>
            <a:ext cx="2602992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0504" y="2615550"/>
            <a:ext cx="2602992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편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453128" y="3099450"/>
            <a:ext cx="237744" cy="2377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9" name="Text 17"/>
          <p:cNvSpPr/>
          <p:nvPr/>
        </p:nvSpPr>
        <p:spPr>
          <a:xfrm>
            <a:off x="3361944" y="3198205"/>
            <a:ext cx="2420112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게재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8088" y="2487168"/>
            <a:ext cx="2602992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8088" y="2615550"/>
            <a:ext cx="2602992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건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20712" y="3099450"/>
            <a:ext cx="237744" cy="2377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9528" y="3198205"/>
            <a:ext cx="2420112" cy="256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수상 실적 — 전자파학회 동상 2회 · 삼성 연계 3위 1회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758184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307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COMPETENCY   무선 NETWORK 직무 연관 역량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059936"/>
            <a:ext cx="259080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신호·프로토콜 분석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DS-TWR · AoA · CIR I/Q 위상 등 물리계층 파라미터를 해석하고 성능 저하 원인을 진단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276600" y="4059936"/>
            <a:ext cx="259080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119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임베디드 하드웨어 구현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4119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Qorvo DW3000, Nordic nRF52840 등 실제 UWB IC·MCU를 제어하는 펌웨어 직접 구현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050280" y="4059936"/>
            <a:ext cx="2590800" cy="11704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4872" y="4206240"/>
            <a:ext cx="2261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기반 교차 검증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4872" y="4572000"/>
            <a:ext cx="2261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MATLAB 시뮬레이션과 하드웨어 실측을 비교해 이론과 결과를 함께 검증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5175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449824"/>
            <a:ext cx="1097280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449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실내측위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09928" y="5449824"/>
            <a:ext cx="992124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09928" y="5449824"/>
            <a:ext cx="992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 신호처리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11780" y="5449824"/>
            <a:ext cx="992124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1780" y="5449824"/>
            <a:ext cx="992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무선 프로토콜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913632" y="5449824"/>
            <a:ext cx="1097280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3632" y="5449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임베디드 시스템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5449824"/>
            <a:ext cx="1097280" cy="292608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5449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기반 검증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02/23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 &amp; Qualifications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전자공학 학위 위에 어학·SW 역량과 자격을 더했습니다.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471270"/>
            <a:ext cx="152400" cy="20117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" y="1471270"/>
            <a:ext cx="152400" cy="20117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0" name="Shape 8"/>
          <p:cNvSpPr/>
          <p:nvPr/>
        </p:nvSpPr>
        <p:spPr>
          <a:xfrm>
            <a:off x="807720" y="1471270"/>
            <a:ext cx="152400" cy="20117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481328"/>
            <a:ext cx="7680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64208"/>
            <a:ext cx="4557370" cy="2788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20240"/>
            <a:ext cx="4008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231136"/>
            <a:ext cx="4008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국민대학교 전자공학부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596896"/>
            <a:ext cx="400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전자시스템공학전공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889504"/>
            <a:ext cx="4008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2019.03 — 2025.08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328416"/>
            <a:ext cx="400873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93008"/>
            <a:ext cx="4008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4.33 / 4.5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" y="3986784"/>
            <a:ext cx="4008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전공 평점  |  전체 평점 4.27 / 4.5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79746" y="1664208"/>
            <a:ext cx="3361334" cy="12847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7490" y="1865376"/>
            <a:ext cx="2885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&amp; SW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17490" y="2176272"/>
            <a:ext cx="288584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OPIc  Intermediate High (IH)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삼성 SW 역량테스트  B형 (Professional)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79746" y="3168396"/>
            <a:ext cx="3361334" cy="128473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7490" y="3369564"/>
            <a:ext cx="2885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17490" y="3680460"/>
            <a:ext cx="288584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리눅스 마스터 2급   2026.01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03/23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IEEE 802.15.4z UWB 정밀 측위 연구를 한국전자파학회논문지에 게재했습니다.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471270"/>
            <a:ext cx="152400" cy="20117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" y="1471270"/>
            <a:ext cx="152400" cy="20117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0" name="Shape 8"/>
          <p:cNvSpPr/>
          <p:nvPr/>
        </p:nvSpPr>
        <p:spPr>
          <a:xfrm>
            <a:off x="807720" y="1471270"/>
            <a:ext cx="152400" cy="20117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481328"/>
            <a:ext cx="7680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64208"/>
            <a:ext cx="813816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792224"/>
            <a:ext cx="54864" cy="131673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65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121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“IEEE 802.15.4z UWB의 거리측정 정확도와 측정시간 최적화”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25968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UWB IC의 하드웨어 처리시간과 PHY 파라미터를 기반으로 거리측정 시간 파라미터를 최적화한 연구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188366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36(3), 2025 · pp. 274–282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5968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SS-TWR / DS-TWR 최적화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8138160" cy="157276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66160"/>
            <a:ext cx="54864" cy="1316736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39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8953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“단일 채널을 활용한 1cm 이하의 고정밀 UWB 구현 및 응용”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3708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I/Q 데이터 위상 복원을 통해 DS-TWR 거리 오차를 1cm 이하로 개선한 고정밀 측위 연구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한국전자파학회논문지 36(8), 2025 · pp. 749–756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Phase Correction · 1cm↓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2578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ORCID  0009-0008-2251-6135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04/23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/ ACTIVITIES &amp; AWARDS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Activities &amp; Awards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연구 · 대회 · 연계 프로젝트에서 결과로 증명해 왔습니다.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471270"/>
            <a:ext cx="152400" cy="20117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" y="1471270"/>
            <a:ext cx="152400" cy="20117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0" name="Shape 8"/>
          <p:cNvSpPr/>
          <p:nvPr/>
        </p:nvSpPr>
        <p:spPr>
          <a:xfrm>
            <a:off x="807720" y="1471270"/>
            <a:ext cx="152400" cy="20117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481328"/>
            <a:ext cx="7680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64208"/>
            <a:ext cx="8138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755648"/>
            <a:ext cx="41148" cy="38404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166420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199339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전자파학회 제4회 학술대회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18120" y="1810512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810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322576"/>
            <a:ext cx="8138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14016"/>
            <a:ext cx="41148" cy="38404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23225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 위상오차 제거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26517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전자파학회 제5회 학술대회 · 논문 게재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18120" y="2468880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2468880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2980944"/>
            <a:ext cx="8138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072384"/>
            <a:ext cx="41148" cy="38404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298094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3072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성능 최적화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54480" y="3310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한국전자파학회논문지 게재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18120" y="3127248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3127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3639312"/>
            <a:ext cx="8138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730752"/>
            <a:ext cx="41148" cy="38404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" y="363931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54480" y="3730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SSAFY 14기 임베디드 트랙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554480" y="396849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삼성 청년 SW 아카데미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8138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4389120"/>
            <a:ext cx="41148" cy="38404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2" name="Text 40"/>
          <p:cNvSpPr/>
          <p:nvPr/>
        </p:nvSpPr>
        <p:spPr>
          <a:xfrm>
            <a:off x="704088" y="42976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55448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 — C++ 가상 로봇 시뮬레이터 + JETANK 호환 Python SDK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554480" y="46268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SSAFY 팀 프로젝트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4956048"/>
            <a:ext cx="81381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5047488"/>
            <a:ext cx="41148" cy="38404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7" name="Text 45"/>
          <p:cNvSpPr/>
          <p:nvPr/>
        </p:nvSpPr>
        <p:spPr>
          <a:xfrm>
            <a:off x="704088" y="49560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554480" y="50474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 — 기지국 빅데이터 기반 AI Agent 플랫폼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554480" y="52852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삼성전자 네트워크사업부 연계 프로젝트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18120" y="5102352"/>
            <a:ext cx="77724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51023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05/23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/ TECH STACK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역할에 맞는 도구를 골라 측정 가능한 결과로 검증해 씁니다.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471270"/>
            <a:ext cx="152400" cy="20117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9" name="Shape 7"/>
          <p:cNvSpPr/>
          <p:nvPr/>
        </p:nvSpPr>
        <p:spPr>
          <a:xfrm>
            <a:off x="655320" y="1471270"/>
            <a:ext cx="152400" cy="20117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0" name="Shape 8"/>
          <p:cNvSpPr/>
          <p:nvPr/>
        </p:nvSpPr>
        <p:spPr>
          <a:xfrm>
            <a:off x="807720" y="1471270"/>
            <a:ext cx="152400" cy="20117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481328"/>
            <a:ext cx="76809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64208"/>
            <a:ext cx="25908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65376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EMBEDDED / HARDWARE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2176272"/>
            <a:ext cx="222504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322576"/>
            <a:ext cx="1454810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22576"/>
            <a:ext cx="1454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 (EMBEDDED)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13762" y="2322576"/>
            <a:ext cx="555727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3762" y="2322576"/>
            <a:ext cx="555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2706624"/>
            <a:ext cx="755523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706624"/>
            <a:ext cx="75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3090672"/>
            <a:ext cx="1754505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90672"/>
            <a:ext cx="1754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NORDIC NRF52840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3474720"/>
            <a:ext cx="1454810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474720"/>
            <a:ext cx="1454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QORVO DW3000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3858768"/>
            <a:ext cx="1454810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58768"/>
            <a:ext cx="14548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QORVO DW3110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" y="4242816"/>
            <a:ext cx="1654607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242816"/>
            <a:ext cx="1654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76600" y="1664208"/>
            <a:ext cx="25908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9480" y="1865376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SOFTWARE / FRAMEWORK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59480" y="2176272"/>
            <a:ext cx="222504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9480" y="2322576"/>
            <a:ext cx="85542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9480" y="2322576"/>
            <a:ext cx="855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8053" y="2322576"/>
            <a:ext cx="955319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8053" y="2322576"/>
            <a:ext cx="955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59480" y="2706624"/>
            <a:ext cx="1155116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9480" y="2706624"/>
            <a:ext cx="1155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87748" y="2706624"/>
            <a:ext cx="85542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7748" y="2706624"/>
            <a:ext cx="855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59480" y="3090672"/>
            <a:ext cx="85542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9480" y="3090672"/>
            <a:ext cx="855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PYGAME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88053" y="3090672"/>
            <a:ext cx="85542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8053" y="3090672"/>
            <a:ext cx="855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OPENCV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59480" y="3474720"/>
            <a:ext cx="755523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59480" y="3474720"/>
            <a:ext cx="755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CMAKE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88155" y="3474720"/>
            <a:ext cx="1155116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88155" y="3474720"/>
            <a:ext cx="1155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50280" y="1664208"/>
            <a:ext cx="25908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3160" y="1865376"/>
            <a:ext cx="222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ALGORITHM / PROTOCOL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33160" y="2176272"/>
            <a:ext cx="222504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3160" y="2322576"/>
            <a:ext cx="85542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3160" y="2322576"/>
            <a:ext cx="855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61733" y="2322576"/>
            <a:ext cx="85542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61733" y="2322576"/>
            <a:ext cx="855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33160" y="2706624"/>
            <a:ext cx="555727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33160" y="2706624"/>
            <a:ext cx="555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62039" y="2706624"/>
            <a:ext cx="1554709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62039" y="2706624"/>
            <a:ext cx="1554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 FILTER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33160" y="3090672"/>
            <a:ext cx="1954301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3160" y="3090672"/>
            <a:ext cx="1954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 PROCESSING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33160" y="3474720"/>
            <a:ext cx="1754505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33160" y="3474720"/>
            <a:ext cx="1754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MULTI-THREADING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33160" y="3858768"/>
            <a:ext cx="2154098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3160" y="3858768"/>
            <a:ext cx="2154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/ HYBRID SEARCH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33160" y="4242816"/>
            <a:ext cx="1554709" cy="274320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33160" y="4242816"/>
            <a:ext cx="1554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· BM25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06/23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UWB 정밀 측위 연구 3건과 SSAFY 팀 프로젝트 2건, 총 5개 프로젝트입니다.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1525219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975104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0936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0936" y="2450592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2024.01–02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30936" y="2670048"/>
            <a:ext cx="12691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3236976"/>
            <a:ext cx="126918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DS-TWR 거리 + AoA 각도 융합 단일 앵커 실시간 측위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30936" y="4023360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023360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1330178" y="4023360"/>
            <a:ext cx="457200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0178" y="4023360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</a:t>
            </a:r>
            <a:endParaRPr lang="en-US" sz="630" dirty="0"/>
          </a:p>
        </p:txBody>
      </p:sp>
      <p:sp>
        <p:nvSpPr>
          <p:cNvPr id="15" name="Shape 13"/>
          <p:cNvSpPr/>
          <p:nvPr/>
        </p:nvSpPr>
        <p:spPr>
          <a:xfrm>
            <a:off x="630936" y="4242816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4242816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KALMAN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579730" y="4489704"/>
            <a:ext cx="1371600" cy="1673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50" y="4535424"/>
            <a:ext cx="1280160" cy="1517904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19" name="Image 0" descr="/home/claude/build_bmw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4677027"/>
            <a:ext cx="1207008" cy="1234697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2156155" y="1847088"/>
            <a:ext cx="1525219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4171" y="1975104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2284171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284171" y="2450592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2024.09–2025.02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284171" y="2670048"/>
            <a:ext cx="12691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 (위상오차 제거)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284171" y="3236976"/>
            <a:ext cx="126918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단일 채널 CIR I/Q 위상 복원으로 정밀도 1cm 이내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2284171" y="4023360"/>
            <a:ext cx="984763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4171" y="4023360"/>
            <a:ext cx="98476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CORR.</a:t>
            </a:r>
            <a:endParaRPr lang="en-US" sz="630" dirty="0"/>
          </a:p>
        </p:txBody>
      </p:sp>
      <p:sp>
        <p:nvSpPr>
          <p:cNvPr id="28" name="Shape 25"/>
          <p:cNvSpPr/>
          <p:nvPr/>
        </p:nvSpPr>
        <p:spPr>
          <a:xfrm>
            <a:off x="2284171" y="4242816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84171" y="4242816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DW3000</a:t>
            </a:r>
            <a:endParaRPr lang="en-US" sz="630" dirty="0"/>
          </a:p>
        </p:txBody>
      </p:sp>
      <p:sp>
        <p:nvSpPr>
          <p:cNvPr id="30" name="Shape 27"/>
          <p:cNvSpPr/>
          <p:nvPr/>
        </p:nvSpPr>
        <p:spPr>
          <a:xfrm>
            <a:off x="2983413" y="4242816"/>
            <a:ext cx="457200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983413" y="4242816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1저자</a:t>
            </a:r>
            <a:endParaRPr lang="en-US" sz="630" dirty="0"/>
          </a:p>
        </p:txBody>
      </p:sp>
      <p:sp>
        <p:nvSpPr>
          <p:cNvPr id="32" name="Shape 29"/>
          <p:cNvSpPr/>
          <p:nvPr/>
        </p:nvSpPr>
        <p:spPr>
          <a:xfrm>
            <a:off x="2232965" y="4489704"/>
            <a:ext cx="1371600" cy="1673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78685" y="4535424"/>
            <a:ext cx="1280160" cy="1517904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4" name="Image 1" descr="/home/claude/build_bmw/assets/phase_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261" y="4861651"/>
            <a:ext cx="1207008" cy="86545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809390" y="1847088"/>
            <a:ext cx="1525219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937406" y="1975104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RESEARCH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937406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00" dirty="0"/>
          </a:p>
        </p:txBody>
      </p:sp>
      <p:sp>
        <p:nvSpPr>
          <p:cNvPr id="38" name="Text 34"/>
          <p:cNvSpPr/>
          <p:nvPr/>
        </p:nvSpPr>
        <p:spPr>
          <a:xfrm>
            <a:off x="3937406" y="2450592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2024.01–2025.03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937406" y="2670048"/>
            <a:ext cx="12691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거리측정 성능 최적화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3937406" y="3236976"/>
            <a:ext cx="126918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PHY 패킷·IC 처리시간 모델링으로 SS/DS-TWR 최적화</a:t>
            </a:r>
            <a:endParaRPr lang="en-US" sz="730" dirty="0"/>
          </a:p>
        </p:txBody>
      </p:sp>
      <p:sp>
        <p:nvSpPr>
          <p:cNvPr id="41" name="Shape 37"/>
          <p:cNvSpPr/>
          <p:nvPr/>
        </p:nvSpPr>
        <p:spPr>
          <a:xfrm>
            <a:off x="3937406" y="4023360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937406" y="4023360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</a:t>
            </a:r>
            <a:endParaRPr lang="en-US" sz="630" dirty="0"/>
          </a:p>
        </p:txBody>
      </p:sp>
      <p:sp>
        <p:nvSpPr>
          <p:cNvPr id="43" name="Shape 39"/>
          <p:cNvSpPr/>
          <p:nvPr/>
        </p:nvSpPr>
        <p:spPr>
          <a:xfrm>
            <a:off x="3937406" y="4242816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937406" y="4242816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</a:t>
            </a:r>
            <a:endParaRPr lang="en-US" sz="630" dirty="0"/>
          </a:p>
        </p:txBody>
      </p:sp>
      <p:sp>
        <p:nvSpPr>
          <p:cNvPr id="45" name="Shape 41"/>
          <p:cNvSpPr/>
          <p:nvPr/>
        </p:nvSpPr>
        <p:spPr>
          <a:xfrm>
            <a:off x="3937406" y="4462272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937406" y="4462272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MATLAB</a:t>
            </a:r>
            <a:endParaRPr lang="en-US" sz="630" dirty="0"/>
          </a:p>
        </p:txBody>
      </p:sp>
      <p:sp>
        <p:nvSpPr>
          <p:cNvPr id="47" name="Shape 43"/>
          <p:cNvSpPr/>
          <p:nvPr/>
        </p:nvSpPr>
        <p:spPr>
          <a:xfrm>
            <a:off x="3886200" y="4709160"/>
            <a:ext cx="1371600" cy="1453896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931920" y="4754880"/>
            <a:ext cx="1280160" cy="1298448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49" name="Image 2" descr="/home/claude/build_bmw/assets/opt_twr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258" y="4791456"/>
            <a:ext cx="1089484" cy="1225296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5462626" y="1847088"/>
            <a:ext cx="1525219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590642" y="1975104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SSAFY PROJECT</a:t>
            </a:r>
            <a:endParaRPr lang="en-US" sz="700" dirty="0"/>
          </a:p>
        </p:txBody>
      </p:sp>
      <p:sp>
        <p:nvSpPr>
          <p:cNvPr id="52" name="Text 47"/>
          <p:cNvSpPr/>
          <p:nvPr/>
        </p:nvSpPr>
        <p:spPr>
          <a:xfrm>
            <a:off x="5590642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900" dirty="0"/>
          </a:p>
        </p:txBody>
      </p:sp>
      <p:sp>
        <p:nvSpPr>
          <p:cNvPr id="53" name="Text 48"/>
          <p:cNvSpPr/>
          <p:nvPr/>
        </p:nvSpPr>
        <p:spPr>
          <a:xfrm>
            <a:off x="5590642" y="2450592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2025.11–12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5590642" y="2670048"/>
            <a:ext cx="12691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5590642" y="3236976"/>
            <a:ext cx="126918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C++ 가상 로봇 시뮬레이터 + JETANK 호환 Python SDK</a:t>
            </a:r>
            <a:endParaRPr lang="en-US" sz="730" dirty="0"/>
          </a:p>
        </p:txBody>
      </p:sp>
      <p:sp>
        <p:nvSpPr>
          <p:cNvPr id="56" name="Shape 51"/>
          <p:cNvSpPr/>
          <p:nvPr/>
        </p:nvSpPr>
        <p:spPr>
          <a:xfrm>
            <a:off x="5590642" y="4023360"/>
            <a:ext cx="587273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5590642" y="4023360"/>
            <a:ext cx="58727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</a:t>
            </a:r>
            <a:endParaRPr lang="en-US" sz="630" dirty="0"/>
          </a:p>
        </p:txBody>
      </p:sp>
      <p:sp>
        <p:nvSpPr>
          <p:cNvPr id="58" name="Shape 53"/>
          <p:cNvSpPr/>
          <p:nvPr/>
        </p:nvSpPr>
        <p:spPr>
          <a:xfrm>
            <a:off x="5590642" y="4242816"/>
            <a:ext cx="1051011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590642" y="4242816"/>
            <a:ext cx="105101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MULTI-THREAD</a:t>
            </a:r>
            <a:endParaRPr lang="en-US" sz="630" dirty="0"/>
          </a:p>
        </p:txBody>
      </p:sp>
      <p:sp>
        <p:nvSpPr>
          <p:cNvPr id="60" name="Shape 55"/>
          <p:cNvSpPr/>
          <p:nvPr/>
        </p:nvSpPr>
        <p:spPr>
          <a:xfrm>
            <a:off x="5590642" y="4462272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5590642" y="4462272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SOCKET</a:t>
            </a:r>
            <a:endParaRPr lang="en-US" sz="630" dirty="0"/>
          </a:p>
        </p:txBody>
      </p:sp>
      <p:sp>
        <p:nvSpPr>
          <p:cNvPr id="62" name="Shape 57"/>
          <p:cNvSpPr/>
          <p:nvPr/>
        </p:nvSpPr>
        <p:spPr>
          <a:xfrm>
            <a:off x="5539435" y="4709160"/>
            <a:ext cx="1371600" cy="1453896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63" name="Image 3" descr="/home/claude/build_bmw/assets/robotpal_s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731" y="5069535"/>
            <a:ext cx="1207008" cy="669137"/>
          </a:xfrm>
          <a:prstGeom prst="rect">
            <a:avLst/>
          </a:prstGeom>
        </p:spPr>
      </p:pic>
      <p:sp>
        <p:nvSpPr>
          <p:cNvPr id="64" name="Shape 58"/>
          <p:cNvSpPr/>
          <p:nvPr/>
        </p:nvSpPr>
        <p:spPr>
          <a:xfrm>
            <a:off x="7115861" y="1847088"/>
            <a:ext cx="1525219" cy="4443984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7243877" y="1975104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SSAFY PROJECT</a:t>
            </a:r>
            <a:endParaRPr lang="en-US" sz="700" dirty="0"/>
          </a:p>
        </p:txBody>
      </p:sp>
      <p:sp>
        <p:nvSpPr>
          <p:cNvPr id="66" name="Text 60"/>
          <p:cNvSpPr/>
          <p:nvPr/>
        </p:nvSpPr>
        <p:spPr>
          <a:xfrm>
            <a:off x="7243877" y="2176272"/>
            <a:ext cx="1269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900" dirty="0"/>
          </a:p>
        </p:txBody>
      </p:sp>
      <p:sp>
        <p:nvSpPr>
          <p:cNvPr id="67" name="Text 61"/>
          <p:cNvSpPr/>
          <p:nvPr/>
        </p:nvSpPr>
        <p:spPr>
          <a:xfrm>
            <a:off x="7243877" y="2450592"/>
            <a:ext cx="126918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2026.02–04</a:t>
            </a:r>
            <a:endParaRPr lang="en-US" sz="750" dirty="0"/>
          </a:p>
        </p:txBody>
      </p:sp>
      <p:sp>
        <p:nvSpPr>
          <p:cNvPr id="68" name="Text 62"/>
          <p:cNvSpPr/>
          <p:nvPr/>
        </p:nvSpPr>
        <p:spPr>
          <a:xfrm>
            <a:off x="7243877" y="2670048"/>
            <a:ext cx="12691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1050" dirty="0"/>
          </a:p>
        </p:txBody>
      </p:sp>
      <p:sp>
        <p:nvSpPr>
          <p:cNvPr id="69" name="Text 63"/>
          <p:cNvSpPr/>
          <p:nvPr/>
        </p:nvSpPr>
        <p:spPr>
          <a:xfrm>
            <a:off x="7243877" y="3236976"/>
            <a:ext cx="126918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7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기지국 빅데이터 기반 불량 재분류·수리가이드 AI Agent</a:t>
            </a:r>
            <a:endParaRPr lang="en-US" sz="730" dirty="0"/>
          </a:p>
        </p:txBody>
      </p:sp>
      <p:sp>
        <p:nvSpPr>
          <p:cNvPr id="70" name="Shape 64"/>
          <p:cNvSpPr/>
          <p:nvPr/>
        </p:nvSpPr>
        <p:spPr>
          <a:xfrm>
            <a:off x="7243877" y="4023360"/>
            <a:ext cx="653522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7243877" y="4023360"/>
            <a:ext cx="65352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</a:t>
            </a:r>
            <a:endParaRPr lang="en-US" sz="630" dirty="0"/>
          </a:p>
        </p:txBody>
      </p:sp>
      <p:sp>
        <p:nvSpPr>
          <p:cNvPr id="72" name="Shape 66"/>
          <p:cNvSpPr/>
          <p:nvPr/>
        </p:nvSpPr>
        <p:spPr>
          <a:xfrm>
            <a:off x="7943118" y="4023360"/>
            <a:ext cx="521025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7943118" y="4023360"/>
            <a:ext cx="52102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</a:t>
            </a:r>
            <a:endParaRPr lang="en-US" sz="630" dirty="0"/>
          </a:p>
        </p:txBody>
      </p:sp>
      <p:sp>
        <p:nvSpPr>
          <p:cNvPr id="74" name="Shape 68"/>
          <p:cNvSpPr/>
          <p:nvPr/>
        </p:nvSpPr>
        <p:spPr>
          <a:xfrm>
            <a:off x="7243877" y="4242816"/>
            <a:ext cx="852267" cy="173736"/>
          </a:xfrm>
          <a:prstGeom prst="rect">
            <a:avLst/>
          </a:prstGeom>
          <a:solidFill>
            <a:srgbClr val="141414"/>
          </a:solidFill>
          <a:ln w="9525">
            <a:solidFill>
              <a:srgbClr val="3C3C3C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7243877" y="4242816"/>
            <a:ext cx="85226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spc="50" kern="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</a:t>
            </a:r>
            <a:endParaRPr lang="en-US" sz="630" dirty="0"/>
          </a:p>
        </p:txBody>
      </p:sp>
      <p:sp>
        <p:nvSpPr>
          <p:cNvPr id="76" name="Shape 70"/>
          <p:cNvSpPr/>
          <p:nvPr/>
        </p:nvSpPr>
        <p:spPr>
          <a:xfrm>
            <a:off x="7192670" y="4489704"/>
            <a:ext cx="1371600" cy="1673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77" name="Image 4" descr="/home/claude/build_bmw/assets/nets_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66" y="4970472"/>
            <a:ext cx="1207008" cy="647808"/>
          </a:xfrm>
          <a:prstGeom prst="rect">
            <a:avLst/>
          </a:prstGeom>
        </p:spPr>
      </p:pic>
      <p:sp>
        <p:nvSpPr>
          <p:cNvPr id="78" name="Shape 71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80" name="Text 73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07/23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50292" cy="609600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32560"/>
            <a:ext cx="50292" cy="6096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42160"/>
            <a:ext cx="50292" cy="6096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81381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기반 단일 앵커 UWB RTLS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445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각도(AoA)와 거리(DS-TWR)를 결합해 앵커 1개로 실내 위치를 추정한 실시간 UWB RTLS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720084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481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  ·   AoA   ·   Kalman Filter   ·   IEEE 802.15.4z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08/23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AOA + DS-TWR   /   PAGE 1 OF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001000" y="731520"/>
            <a:ext cx="64008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731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RTLS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975811" y="640080"/>
            <a:ext cx="393374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다중 앵커 삼각측위를 앵커 1개의 AoA + DS-TWR 융합 방식으로 단순화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2024.01 – 2024.02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팀 프로젝트 [확인 필요]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AoA 알고리즘 설계 · 펌웨어 구현 · 실험 검증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706624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다중 앵커 기반 삼각측위 RTLS는 앵커를 여러 개 설치·동기화해야 해 구축 비용과 공간 제약이 큽니다. 태그 1개와 앵커 N개가 1:N으로 통신하며 각 앵커 간 거리값을 교환하는 과정이 필요합니다.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02920" y="3694176"/>
            <a:ext cx="3913632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3840480"/>
            <a:ext cx="3621024" cy="173736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27" name="Image 0" descr="/home/claude/build_bmw/assets/tri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682" y="3968496"/>
            <a:ext cx="1448108" cy="148132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9224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기존 · 3-Anchor Triangulation (1:N 통신)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APPROACH   차별점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27448" y="2724912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AoA + DS-TWR 결합 단일 앵커 측위 알고리즘 설계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안테나 배열 위상차 → 각도 추정 펌웨어 구현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앵커 3개 → 1개로 축소, 패킷 교환 약 73% 감소</a:t>
            </a:r>
            <a:endParaRPr lang="en-US" sz="1030" dirty="0"/>
          </a:p>
        </p:txBody>
      </p:sp>
      <p:sp>
        <p:nvSpPr>
          <p:cNvPr id="32" name="Shape 29"/>
          <p:cNvSpPr/>
          <p:nvPr/>
        </p:nvSpPr>
        <p:spPr>
          <a:xfrm>
            <a:off x="4727448" y="3694176"/>
            <a:ext cx="3913632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73752" y="3840480"/>
            <a:ext cx="3621024" cy="173736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4" name="Image 1" descr="/home/claude/build_bmw/assets/aoa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905" y="3968496"/>
            <a:ext cx="1476718" cy="148132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873752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제안 · 1-Anchor AoA + DS-TWR (1:1 통신)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09/23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01 · UWB RTLS · AOA + DS-TWR   /   PAGE 2 OF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AoA RTLS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75811" y="640080"/>
            <a:ext cx="46652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VALIDATION   성과 및 한계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측위 정확도 검증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AoA 기반 측위는 안테나 배열의 위상차로 각도를 추정하는 방식이라 실사용 환경에서 오차에 취약할 수 있음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4-Anchor 실측 환경(DWM3000 MCU)에서 실시간 좌표를 추정한 결과, X축(거리) 정확도는 높은 수준으로 유지됨을 확인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UART 패킷 무결성 검증 (CRC-8)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MCU–PC 간 UART 시리얼 전송은 바이트 경계가 없어 노이즈·동기 오차로 패킷이 깨질 위험이 있음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START(0xAA)/END(0x55) 프레이밍 + CRC-8/SMBUS 체크섬으로 11바이트 패킷(distance·angle)의 무결성을 검증하는 수신기를 직접 구현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각도 추정 오차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Y축(각도) 결과에서는 각도 측정 기반의 오차가 일부 존재함을 확인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향후 안테나 캘리브레이션·필터 파라미터 튜닝을 통한 각도 오차 보정이 필요 [확인 필요]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예정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663440"/>
            <a:ext cx="35935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NOTE  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항목은 추후 업데이트 예정입니다.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10/23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50292" cy="609600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32560"/>
            <a:ext cx="50292" cy="6096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42160"/>
            <a:ext cx="50292" cy="6096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81381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위상오차 제거 기반 고정밀 UWB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445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단일 주파수 채널의 CIR I/Q 위상 정보로 DS-TWR 거리측정 정밀도를 약 1cm 이내로 개선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720084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481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DS-TWR   ·   CIR I/Q Phase   ·   Kalman Filter   ·   Qorvo DW3000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11/23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02 · UWB PRECISION · PHASE CORRECTION   /   PAGE 1 OF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589520" y="731520"/>
            <a:ext cx="105156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731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동상 · 논문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61258" y="640080"/>
            <a:ext cx="3836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10cm 수준의 DS-TWR 오차를 단일 채널 위상 보정으로 1cm 이내까지 개선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2024.09 – 2025.02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개인 연구 (제1저자)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위상오차 제거 알고리즘 설계·구현 · 논문 제1저자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706624"/>
            <a:ext cx="3913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기존 DS-TWR은 클럭 오프셋의 영향을 줄일 수 있지만, 송수신기 위상오차로 인해 약 10cm 수준의 거리측정 오차가 남습니다. RTLS 적용 시에는 이 오차가 누적되며 최종 위치 정확도에 영향을 미칩니다.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3831336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UWB 측위 기술 전반에 대한 관심에서 출발해, 위상 오차 제거를 통한 정밀도 향상 연구로 측위 정확도 개선 가능성에 주목했습니다. 국내 허용 주파수(CH9, 7.9872GHz)와 사용 중인 UWB IC의 호환성도 함께 고려했습니다.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APPROACH   차별점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27448" y="2724912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DW3000 CIR I/Q 데이터에서 패킷별 순시 위상 계산 → 공통 위상오차 성분 제거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단일 채널 조건에서 동작하도록 보정 방법을 재설계 (복수 채널 불필요)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Median / Kalman 필터링으로 잔여 오차 완화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3831336"/>
            <a:ext cx="3913632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3977640"/>
            <a:ext cx="3621024" cy="160020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1" name="Image 0" descr="/home/claude/build_bmw/assets/phase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936" y="4105656"/>
            <a:ext cx="1874656" cy="1344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873752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실시간 응용 시스템 구성 — 4-Anchor + Tag, Raspberry Pi → ROS → 좌표 계산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12/23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02 · UWB PRECISION · PHASE CORRECTION   /   PAGE 2 OF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고정밀 UWB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61258" y="640080"/>
            <a:ext cx="4979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VALIDATION   성과 및 한계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정밀도 개선 성과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기존 DS-TWR 방식은 약 10cm 수준의 거리 오차가 남아 RTLS 위치 정확도에 한계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위상 오차 제거 적용으로 오차범위가 10cm에서 1cm 내외로 감소, 동일 방식을 적용한 RTLS에서 좌표 분산도 역시 크게 감소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채널 위상 보정 파이프라인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복수 채널 사용 없이 단일 채널만으로 위상 모호성을 해소해야 하는 제약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DW3000 CIR I/Q 데이터에서 패킷별 순시 위상을 계산해 공통 위상오차 성분을 제거하고, Median/Kalman 필터로 잔여 오차를 완화하는 단일 채널 전용 보정 로직을 설계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— 잔여 위상 모호성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단일 채널 조건에서도 위상 모호성과 랜덤 오차가 일부 잔존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반복 측정과 필터링으로 완화하고 있으나 근본적인 제거는 향후 과제 [확인 필요]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영상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663440"/>
            <a:ext cx="35935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DEMO  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실시간 고정밀 RTLS 동작 검증 데모 — https://www.youtube.com/watch?v=zzRW9kg5rdE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13/23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50292" cy="609600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32560"/>
            <a:ext cx="50292" cy="6096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42160"/>
            <a:ext cx="50292" cy="6096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813816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IEEE 802.15.4z UWB 거리측정 성능 최적화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2445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PHY 패킷 시간과 UWB IC 처리시간을 함께 모델링해 SS-TWR 정확도와 DS-TWR 측정시간을 최적화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720084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481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SS-TWR   ·   DS-TWR   ·   PHY Packet Timing   ·   MATLAB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14/23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03 · IEEE 802.15.4Z · TWR OPTIMIZATION   /   PAGE 1 OF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731520"/>
            <a:ext cx="86868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731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게재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최적화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61258" y="640080"/>
            <a:ext cx="40197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PHY 파라미터·IC 처리시간을 함께 모델링해 정확도-속도 트레이드오프를 정량 최적화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2024.01 – 2025.03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공동 연구 (제1저자)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TWR 프로토콜·PHY 패킷 구조 분석 · 파라미터 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  배경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706624"/>
            <a:ext cx="3913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8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PHY 파라미터에 따라 패킷 시간이 달라지는데, 고정된 응답시간을 사용하면 수신 실패나 성능 저하가 발생할 수 있습니다. SS-TWR은 응답 지연이 커질수록 클럭 오프셋의 영향이 커져 정확도가 떨어지고, DS-TWR은 불필요한 지연이 단위 시간당 측정 횟수를 감소시킵니다.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3913632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4114800"/>
            <a:ext cx="3621024" cy="146304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27" name="Image 0" descr="/home/claude/build_bmw/assets/opt_tw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125" y="4242816"/>
            <a:ext cx="1073223" cy="12070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9224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SS-TWR(위) · DS-TWR(아래) 거리측정 원리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0" name="Text 27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APPROACH   차별점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27448" y="2724912"/>
            <a:ext cx="3913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Qorvo DW3000의 실제 송수신 처리시간(T_PRX 등) 실측·모델링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PHY 파라미터별 패킷 시간(T_SHR·T_PHR·T_PSDU)을 수학적으로 정밀 분석</a:t>
            </a:r>
            <a:endParaRPr lang="en-US" sz="1000" dirty="0"/>
          </a:p>
          <a:p>
            <a:pPr algn="l"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측정·분석 결과를 결합해 SS/DS-TWR 최적 Treply 값 결정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27448" y="3831336"/>
            <a:ext cx="3913632" cy="2148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73752" y="3977640"/>
            <a:ext cx="3621024" cy="1600200"/>
          </a:xfrm>
          <a:prstGeom prst="rect">
            <a:avLst/>
          </a:prstGeom>
          <a:solidFill>
            <a:srgbClr val="F5F5F7"/>
          </a:solidFill>
          <a:ln/>
        </p:spPr>
      </p:sp>
      <p:pic>
        <p:nvPicPr>
          <p:cNvPr id="34" name="Image 1" descr="/home/claude/build_bmw/assets/opt_ds_trep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383" y="4105656"/>
            <a:ext cx="2415761" cy="1344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873752" y="56692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DS-TWR Packet Exchange Timing — 실측 T_PRX 반영한 Treply 산출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15/23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03 · IEEE 802.15.4Z · TWR OPTIMIZATION   /   PAGE 2 OF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3103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UWB 최적화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61258" y="640080"/>
            <a:ext cx="4979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VALIDATION   성과 및 한계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정확도-속도 최적화 성과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SS-TWR은 Treply가 길수록 클럭 오차가 누적되고, DS-TWR은 불필요한 지연이 측정 횟수를 감소시킴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실측 기반 최적 Treply 결정으로 SS-TWR 거리 오차를 원천 방지하고, DS-TWR 측정 횟수를 늘려 RTLS 실시간성을 향상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이론–실측 일치 검증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MATLAB 이론 모델링 값이 실제 하드웨어 동작과 일치하는지 검증이 필요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Preamble 길이 128 / 1024 두 조건 모두에서 계산값과 실측값이 일치함을 확인 (이론 = 실측)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실험은 실내 정적 환경을 기준으로 수행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다중 경로·이동 환경에서의 재검증은 향후 과제 [확인 필요]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663440"/>
            <a:ext cx="35935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DOI  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IEEE 802.15.4z UWB의 거리측정 정확도와 측정시간 최적화 — 한국전자파학회논문지 36(3), 2025 · https://doi.org/10.5515/KJKIEES.2025.36.3.274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16/23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50292" cy="609600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32560"/>
            <a:ext cx="50292" cy="6096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42160"/>
            <a:ext cx="50292" cy="6096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8138160" cy="89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5854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JETANK SDK 호환 C++ 시뮬레이터 기반 가상 로봇 Python SDK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060952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88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C++17   ·   CMake   ·   Socket   ·   WebSocket   ·   Python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17/23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04 · C++ SIMULATOR · CROSS-PLATFORM   /   PAGE 1 OF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75811" y="640080"/>
            <a:ext cx="46652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C++ 가상 로봇 시뮬레이터 + JETANK 호환 Python SDK 개발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2025.11 – 2025.12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팀 프로젝트 (3인)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C++ 시뮬레이터 네트워크 계층 구현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724912"/>
            <a:ext cx="3913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네트워크 추상화 계층(Transport Layer) 설계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Producer-Consumer NetworkQueue 설계 및 Mutex 스레드 안전성 확보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플랫폼별 Transport 구현(데스크탑 TCP / 웹 WebSocket) 및 팩토리 패턴 적용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카메라 스트리밍 파이프라인(JPEG 인코딩 + Length-Prefix 프로토콜) 구현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02920" y="4197096"/>
            <a:ext cx="1888236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4" name="Image 0" descr="/home/claude/build_bmw/assets/robotpal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44164"/>
            <a:ext cx="1339596" cy="742641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2528316" y="4197096"/>
            <a:ext cx="1888236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6" name="Image 1" descr="/home/claude/build_bmw/assets/robotpal_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4583072"/>
            <a:ext cx="1339596" cy="86482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2920" y="588873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github.com/FastTurtle7892/RobotPal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5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추상화 계층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727448" y="2743200"/>
            <a:ext cx="3913632" cy="2880360"/>
          </a:xfrm>
          <a:prstGeom prst="rect">
            <a:avLst/>
          </a:prstGeom>
          <a:solidFill>
            <a:srgbClr val="0D0D0D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471038" y="2907792"/>
            <a:ext cx="2426452" cy="402336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562478" y="2972166"/>
            <a:ext cx="224357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NetworkEngine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562478" y="3133100"/>
            <a:ext cx="2243572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인터페이스에만 의존</a:t>
            </a:r>
            <a:endParaRPr lang="en-US" sz="830" dirty="0"/>
          </a:p>
        </p:txBody>
      </p:sp>
      <p:sp>
        <p:nvSpPr>
          <p:cNvPr id="34" name="Shape 30"/>
          <p:cNvSpPr/>
          <p:nvPr/>
        </p:nvSpPr>
        <p:spPr>
          <a:xfrm>
            <a:off x="6684264" y="3310128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5001402" y="3529584"/>
            <a:ext cx="3365724" cy="438912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92842" y="3599810"/>
            <a:ext cx="31828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«interface» NetworkTransport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5092842" y="3775375"/>
            <a:ext cx="318284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Connect · Send · Disconnect</a:t>
            </a:r>
            <a:endParaRPr lang="en-US" sz="830" dirty="0"/>
          </a:p>
        </p:txBody>
      </p:sp>
      <p:sp>
        <p:nvSpPr>
          <p:cNvPr id="38" name="Shape 34"/>
          <p:cNvSpPr/>
          <p:nvPr/>
        </p:nvSpPr>
        <p:spPr>
          <a:xfrm>
            <a:off x="5823265" y="3968496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7545263" y="3968496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4782312" y="4187952"/>
            <a:ext cx="1800271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73752" y="4266956"/>
            <a:ext cx="1617391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TcpNetworkTransport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4873752" y="4464467"/>
            <a:ext cx="1617391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Desktop · WinSock2/POSIX</a:t>
            </a:r>
            <a:endParaRPr lang="en-US" sz="760" dirty="0"/>
          </a:p>
        </p:txBody>
      </p:sp>
      <p:sp>
        <p:nvSpPr>
          <p:cNvPr id="43" name="Shape 39"/>
          <p:cNvSpPr/>
          <p:nvPr/>
        </p:nvSpPr>
        <p:spPr>
          <a:xfrm>
            <a:off x="6785945" y="4187952"/>
            <a:ext cx="1800271" cy="493776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877385" y="4266956"/>
            <a:ext cx="1617391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WebSocketTransport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877385" y="4464467"/>
            <a:ext cx="1617391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Web · Emscripten</a:t>
            </a:r>
            <a:endParaRPr lang="en-US" sz="760" dirty="0"/>
          </a:p>
        </p:txBody>
      </p:sp>
      <p:sp>
        <p:nvSpPr>
          <p:cNvPr id="46" name="Text 42"/>
          <p:cNvSpPr/>
          <p:nvPr/>
        </p:nvSpPr>
        <p:spPr>
          <a:xfrm>
            <a:off x="4727448" y="480974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NetworkTransport::Create() — #ifdef 한 곳에 집약</a:t>
            </a:r>
            <a:endParaRPr lang="en-US" sz="830" dirty="0"/>
          </a:p>
        </p:txBody>
      </p:sp>
      <p:sp>
        <p:nvSpPr>
          <p:cNvPr id="47" name="Text 43"/>
          <p:cNvSpPr/>
          <p:nvPr/>
        </p:nvSpPr>
        <p:spPr>
          <a:xfrm>
            <a:off x="4727448" y="567842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i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※ 무선망 운용 경험이 아닌, 통신 처리 병목을 분석하고 실행 구조를 개선한 시스템 구현 경험입니다.</a:t>
            </a:r>
            <a:endParaRPr lang="en-US" sz="860" dirty="0"/>
          </a:p>
        </p:txBody>
      </p:sp>
      <p:sp>
        <p:nvSpPr>
          <p:cNvPr id="48" name="Shape 44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18/23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04 · C++ SIMULATOR · CROSS-PLATFORM   /   PAGE 2 OF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34180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RobotPal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75811" y="640080"/>
            <a:ext cx="46652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TROUBLESHOOTING   문제 · 해결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추상화 계층 설계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데스크탑(TCP)과 웹(Emscripten, WebSocket)의 네트워크 API가 완전히 달라 플랫폼 분기가 코드 전반에 확산됨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순수 가상 NetworkTransport 인터페이스 + Create() 팩토리 한 곳에 #ifdef 집약 → 상위 NetworkEngine은 플랫폼 무지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Producer-Consumer 수신/송신 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블로킹 recv/send를 메인 루프에서 호출하면 프레임 정지, std::queue 동시 접근 시 UB 발생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mutex로 캡슐화한 NetworkQueue — 생산자는 Push, 소비자는 TryPop(빈 큐는 nullopt)로 논블로킹 안전 접근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스트리밍 파이프라인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RGBA 1프레임이 약 1.2MB라 실시간 전송 불가, TCP 스트림은 프레임 경계를 알 수 없음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RGB 변환 후 JPEG(품질 70) 인코딩 + 4바이트 Length-Prefix 프로토콜, 워커 스레드 풀에서 병렬 인코딩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성과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실제 JETANK 하드웨어 없이 동일한 코드로 로봇 동작을 검증해야 했음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데스크탑·웹 단일 코드베이스 + 멀티스레드 안전성 확보로 하드웨어 없는 SDK 검증 환경 구축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19/23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50292" cy="609600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32560"/>
            <a:ext cx="50292" cy="60960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042160"/>
            <a:ext cx="50292" cy="6096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28600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 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2560320"/>
            <a:ext cx="8138160" cy="89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5854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기지국 빅데이터 기반 AI Agent 플랫폼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4060952"/>
            <a:ext cx="2377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88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  ·   BM25   ·   FastAPI   ·   LangChain   ·   LangGraph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20/23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05 · SAMSUNG NETWORK · AI / RAG   /   PAGE 1 OF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731520"/>
            <a:ext cx="1143000" cy="274320"/>
          </a:xfrm>
          <a:prstGeom prst="rect">
            <a:avLst/>
          </a:prstGeom>
          <a:solidFill>
            <a:srgbClr val="141414"/>
          </a:solidFill>
          <a:ln w="12700">
            <a:solidFill>
              <a:srgbClr val="1C69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731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 프로젝트 3위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76662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24405" y="640080"/>
            <a:ext cx="50822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RMA·인벤토리 데이터 기반 불량률 분석·재분류·수리 가이드 추천 통합 플랫폼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2026.02 – 2026.04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0708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0708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708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삼성전자 네트워크사업부 연계 (6인)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11240" y="1664208"/>
            <a:ext cx="252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역할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1240" y="1837944"/>
            <a:ext cx="164592" cy="0"/>
          </a:xfrm>
          <a:prstGeom prst="line">
            <a:avLst/>
          </a:prstGeom>
          <a:noFill/>
          <a:ln w="19050">
            <a:solidFill>
              <a:srgbClr val="1C69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1240" y="1883664"/>
            <a:ext cx="252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RAG 재분류 · 추천 에이전트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2311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414016"/>
            <a:ext cx="0" cy="3986784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CONTRIBUTION   핵심 기여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724912"/>
            <a:ext cx="3913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Milvus + BM25 하이브리드 RAG 불량 증상 재분류 API 설계·구현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RMA 전처리·임베딩 파이프라인 및 평가지표(Hit@5, MRR) 설계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LangGraph 수리 가이드 에이전트 + Milvus 하이브리드 검색 연동</a:t>
            </a:r>
            <a:endParaRPr lang="en-US" sz="1030" dirty="0"/>
          </a:p>
          <a:p>
            <a:pPr algn="l" marL="177800" indent="-177800">
              <a:lnSpc>
                <a:spcPct val="115000"/>
              </a:lnSpc>
              <a:spcAft>
                <a:spcPts val="900"/>
              </a:spcAft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시리얼 조회 → 벡터 검색 → 가이드 스트리밍 전체 흐름 구축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02920" y="4471416"/>
            <a:ext cx="1888236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6" name="Image 0" descr="/home/claude/build_bmw/assets/nets_reclass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45547"/>
            <a:ext cx="1339596" cy="614195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2528316" y="4471416"/>
            <a:ext cx="1888236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pic>
        <p:nvPicPr>
          <p:cNvPr id="28" name="Image 1" descr="/home/claude/build_bmw/assets/nets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4793160"/>
            <a:ext cx="1339596" cy="71896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727448" y="2441448"/>
            <a:ext cx="91440" cy="9144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0" name="Text 26"/>
          <p:cNvSpPr/>
          <p:nvPr/>
        </p:nvSpPr>
        <p:spPr>
          <a:xfrm>
            <a:off x="4910328" y="24140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RAG 재분류 파이프라인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727448" y="2743200"/>
            <a:ext cx="3913632" cy="3310128"/>
          </a:xfrm>
          <a:prstGeom prst="rect">
            <a:avLst/>
          </a:prstGeom>
          <a:solidFill>
            <a:srgbClr val="0D0D0D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392765" y="2889504"/>
            <a:ext cx="2582997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484205" y="2889504"/>
            <a:ext cx="2400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Query (불량 증상)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684264" y="3255264"/>
            <a:ext cx="0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 flipH="1">
            <a:off x="5728716" y="3456432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6684264" y="3456432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4864608" y="3675888"/>
            <a:ext cx="1728216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56048" y="36758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키워드 검색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75704" y="3675888"/>
            <a:ext cx="1728216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67144" y="3675888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Milvus 벡터 검색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728716" y="4041648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 flipH="1">
            <a:off x="6684264" y="4041648"/>
            <a:ext cx="955548" cy="201168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5392765" y="4261104"/>
            <a:ext cx="2582997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484205" y="4261104"/>
            <a:ext cx="2400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융합 · Convex Comb.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684264" y="4626864"/>
            <a:ext cx="0" cy="164592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5392765" y="4809744"/>
            <a:ext cx="2582997" cy="36576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484205" y="4809744"/>
            <a:ext cx="2400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Cross-Encoder Re-rank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684264" y="5175504"/>
            <a:ext cx="0" cy="164592"/>
          </a:xfrm>
          <a:prstGeom prst="line">
            <a:avLst/>
          </a:prstGeom>
          <a:noFill/>
          <a:ln w="15875">
            <a:solidFill>
              <a:srgbClr val="7E7E7E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5392765" y="5358384"/>
            <a:ext cx="2582997" cy="4572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484205" y="5431536"/>
            <a:ext cx="240011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객관식 판단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5484205" y="5614416"/>
            <a:ext cx="2400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→ 카테고리 재분류</a:t>
            </a:r>
            <a:endParaRPr lang="en-US" sz="760" dirty="0"/>
          </a:p>
        </p:txBody>
      </p:sp>
      <p:sp>
        <p:nvSpPr>
          <p:cNvPr id="52" name="Shape 48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21/23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97764"/>
            <a:ext cx="73152" cy="100584"/>
          </a:xfrm>
          <a:prstGeom prst="rect">
            <a:avLst/>
          </a:prstGeom>
          <a:solidFill>
            <a:srgbClr val="0066B1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" y="397764"/>
            <a:ext cx="73152" cy="100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" y="397764"/>
            <a:ext cx="73152" cy="100584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347472"/>
            <a:ext cx="7790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05 · SAMSUNG NETWORK · AI / RAG   /   PAGE 2 OF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8909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448763" y="640080"/>
            <a:ext cx="61923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TROUBLESHOOTING   문제 · 해결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과필터로 후보 고갈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대·중·소분류를 동시에 필터링하면 참조 후보가 부족해 RRF 점수가 불안정해지고 정확도 하락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Technical Category(LTE/5G)만 필터, 세부 분류는 임베딩 텍스트로 이전 → 후보 확보 + Hit@5 개선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755648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755648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385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193852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할루시네이션 카테고리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24942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자유 생성 방식에서 후보에 없는 카테고리명을 만들어내 무효값이 이력 DB에 적재됨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0632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후보 번호 객관식 프롬프트 + regex 숫자 추출 폴백 + 범위 검증(기본 1번 후보) 3단 방어 구성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RAG 재분류 파이프라인 구축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문제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BM25 키워드 검색 또는 Milvus 벡터 검색을 단독으로 사용하면 재현율과 정확도 사이에 트레이드오프가 발생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해결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RRF(Reciprocal Rank Fusion) 융합 + Cross-Encoder Re-rank + LLM 객관식 판단으로 이어지는 하이브리드 파이프라인을 구축하고 Hit@5·MRR 지표로 성능 검증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4169664"/>
            <a:ext cx="3959352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1728" y="4169664"/>
            <a:ext cx="41148" cy="21945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435254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C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48656" y="435254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및 수상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466344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7E7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평가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Hit@5·MRR 지표로 하이브리드 재분류 파이프라인의 성능을 정량 평가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5477256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5C9CE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성과   </a:t>
            </a:r>
            <a:pPr algn="l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카테고리 재분류 Hit@5 정확도 95% 달성 · 삼성전자 네트워크사업부 연계 프로젝트 3위 수상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22/23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788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무선 신호 분석부터 실험 검증까지 — 현장에서 결과로 증명되는 무선 Network를 만들겠습니다.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2578608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22376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jangys7892@gmail.com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82696" y="3520440"/>
            <a:ext cx="2578608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02152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github.com/FastTurtle7892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62472" y="3520440"/>
            <a:ext cx="2578608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37033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ORCID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81928" y="397764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0009-0008-2251-6135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6345936"/>
            <a:ext cx="813816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47395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 ↗      </a:t>
            </a:r>
            <a:pPr indent="0" marL="0">
              <a:buNone/>
            </a:pPr>
            <a:r>
              <a:rPr lang="en-US" sz="1000" spc="100" kern="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 ↗   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85816" y="647395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7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23/23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2026-09-16T14:22:26Z</dcterms:created>
  <dcterms:modified xsi:type="dcterms:W3CDTF">2026-09-16T14:22:26Z</dcterms:modified>
</cp:coreProperties>
</file>